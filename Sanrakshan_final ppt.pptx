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13614-EB3F-4973-822B-7C7F331DE784}" v="1" dt="2026-02-12T05:29:28.9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50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HITA BANIK" userId="3e03397bcd24b358" providerId="LiveId" clId="{2CF4686C-CE5A-482B-B996-D5388D39D24A}"/>
    <pc:docChg chg="undo custSel modSld">
      <pc:chgData name="SANHITA BANIK" userId="3e03397bcd24b358" providerId="LiveId" clId="{2CF4686C-CE5A-482B-B996-D5388D39D24A}" dt="2026-02-12T05:29:46.279" v="9" actId="1076"/>
      <pc:docMkLst>
        <pc:docMk/>
      </pc:docMkLst>
      <pc:sldChg chg="addSp delSp modSp mod">
        <pc:chgData name="SANHITA BANIK" userId="3e03397bcd24b358" providerId="LiveId" clId="{2CF4686C-CE5A-482B-B996-D5388D39D24A}" dt="2026-02-12T05:29:46.279" v="9" actId="1076"/>
        <pc:sldMkLst>
          <pc:docMk/>
          <pc:sldMk cId="0" sldId="256"/>
        </pc:sldMkLst>
        <pc:picChg chg="del">
          <ac:chgData name="SANHITA BANIK" userId="3e03397bcd24b358" providerId="LiveId" clId="{2CF4686C-CE5A-482B-B996-D5388D39D24A}" dt="2026-02-12T05:29:36.829" v="4" actId="478"/>
          <ac:picMkLst>
            <pc:docMk/>
            <pc:sldMk cId="0" sldId="256"/>
            <ac:picMk id="5" creationId="{F4F3BCA6-9E0F-EC86-DDE9-E237836B10C3}"/>
          </ac:picMkLst>
        </pc:picChg>
        <pc:picChg chg="add del mod">
          <ac:chgData name="SANHITA BANIK" userId="3e03397bcd24b358" providerId="LiveId" clId="{2CF4686C-CE5A-482B-B996-D5388D39D24A}" dt="2026-02-12T05:29:46.279" v="9" actId="1076"/>
          <ac:picMkLst>
            <pc:docMk/>
            <pc:sldMk cId="0" sldId="256"/>
            <ac:picMk id="7" creationId="{7F3B4EF2-B2FE-9CD6-2DF9-8FB4FCFF9D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055E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055E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055E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055E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3500" y="1168400"/>
            <a:ext cx="2374900" cy="1816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6900" y="2552700"/>
            <a:ext cx="3594100" cy="2222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6412" y="797277"/>
            <a:ext cx="15602375" cy="1126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055E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75956" y="2743905"/>
            <a:ext cx="7226300" cy="5972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11" Type="http://schemas.openxmlformats.org/officeDocument/2006/relationships/image" Target="../media/image38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7" Type="http://schemas.openxmlformats.org/officeDocument/2006/relationships/image" Target="../media/image46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7217" y="5034419"/>
            <a:ext cx="13807440" cy="23914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6850" spc="-180" dirty="0">
                <a:solidFill>
                  <a:srgbClr val="03594F"/>
                </a:solidFill>
                <a:latin typeface="Cambria"/>
                <a:cs typeface="Cambria"/>
              </a:rPr>
              <a:t>Prepared</a:t>
            </a:r>
            <a:r>
              <a:rPr sz="6850" spc="-200" dirty="0">
                <a:solidFill>
                  <a:srgbClr val="03594F"/>
                </a:solidFill>
                <a:latin typeface="Cambria"/>
                <a:cs typeface="Cambria"/>
              </a:rPr>
              <a:t> </a:t>
            </a:r>
            <a:r>
              <a:rPr sz="6850" spc="-70" dirty="0">
                <a:solidFill>
                  <a:srgbClr val="056056"/>
                </a:solidFill>
                <a:latin typeface="Cambria"/>
                <a:cs typeface="Cambria"/>
              </a:rPr>
              <a:t>Today.</a:t>
            </a:r>
            <a:r>
              <a:rPr sz="6850" spc="-310" dirty="0">
                <a:solidFill>
                  <a:srgbClr val="056056"/>
                </a:solidFill>
                <a:latin typeface="Cambria"/>
                <a:cs typeface="Cambria"/>
              </a:rPr>
              <a:t> </a:t>
            </a:r>
            <a:r>
              <a:rPr sz="6850" spc="-110" dirty="0">
                <a:solidFill>
                  <a:srgbClr val="03564D"/>
                </a:solidFill>
                <a:latin typeface="Cambria"/>
                <a:cs typeface="Cambria"/>
              </a:rPr>
              <a:t>Protected</a:t>
            </a:r>
            <a:r>
              <a:rPr sz="6850" spc="-170" dirty="0">
                <a:solidFill>
                  <a:srgbClr val="03564D"/>
                </a:solidFill>
                <a:latin typeface="Cambria"/>
                <a:cs typeface="Cambria"/>
              </a:rPr>
              <a:t> </a:t>
            </a:r>
            <a:r>
              <a:rPr sz="6850" spc="-95" dirty="0">
                <a:solidFill>
                  <a:srgbClr val="05594F"/>
                </a:solidFill>
                <a:latin typeface="Cambria"/>
                <a:cs typeface="Cambria"/>
              </a:rPr>
              <a:t>Tomorrow.</a:t>
            </a:r>
            <a:endParaRPr sz="6850">
              <a:latin typeface="Cambria"/>
              <a:cs typeface="Cambria"/>
            </a:endParaRPr>
          </a:p>
          <a:p>
            <a:pPr marL="1880870" marR="1773555" algn="ctr">
              <a:lnSpc>
                <a:spcPts val="4450"/>
              </a:lnSpc>
              <a:spcBef>
                <a:spcPts val="919"/>
              </a:spcBef>
            </a:pPr>
            <a:r>
              <a:rPr sz="4100" spc="-330" dirty="0">
                <a:solidFill>
                  <a:srgbClr val="085449"/>
                </a:solidFill>
                <a:latin typeface="Arial MT"/>
                <a:cs typeface="Arial MT"/>
              </a:rPr>
              <a:t>A</a:t>
            </a:r>
            <a:r>
              <a:rPr sz="4100" spc="-40" dirty="0">
                <a:solidFill>
                  <a:srgbClr val="085449"/>
                </a:solidFill>
                <a:latin typeface="Arial MT"/>
                <a:cs typeface="Arial MT"/>
              </a:rPr>
              <a:t> </a:t>
            </a:r>
            <a:r>
              <a:rPr sz="4100" spc="-30" dirty="0">
                <a:solidFill>
                  <a:srgbClr val="11463D"/>
                </a:solidFill>
                <a:latin typeface="Arial MT"/>
                <a:cs typeface="Arial MT"/>
              </a:rPr>
              <a:t>comprehensive</a:t>
            </a:r>
            <a:r>
              <a:rPr sz="4100" spc="-55" dirty="0">
                <a:solidFill>
                  <a:srgbClr val="11463D"/>
                </a:solidFill>
                <a:latin typeface="Arial MT"/>
                <a:cs typeface="Arial MT"/>
              </a:rPr>
              <a:t> </a:t>
            </a:r>
            <a:r>
              <a:rPr sz="4100" dirty="0">
                <a:solidFill>
                  <a:srgbClr val="0A4B44"/>
                </a:solidFill>
                <a:latin typeface="Arial MT"/>
                <a:cs typeface="Arial MT"/>
              </a:rPr>
              <a:t>disaster</a:t>
            </a:r>
            <a:r>
              <a:rPr sz="4100" spc="-90" dirty="0">
                <a:solidFill>
                  <a:srgbClr val="0A4B44"/>
                </a:solidFill>
                <a:latin typeface="Arial MT"/>
                <a:cs typeface="Arial MT"/>
              </a:rPr>
              <a:t> </a:t>
            </a:r>
            <a:r>
              <a:rPr sz="4100" spc="-30" dirty="0">
                <a:solidFill>
                  <a:srgbClr val="0A463D"/>
                </a:solidFill>
                <a:latin typeface="Arial MT"/>
                <a:cs typeface="Arial MT"/>
              </a:rPr>
              <a:t>preparedness</a:t>
            </a:r>
            <a:r>
              <a:rPr sz="4100" spc="-55" dirty="0">
                <a:solidFill>
                  <a:srgbClr val="0A463D"/>
                </a:solidFill>
                <a:latin typeface="Arial MT"/>
                <a:cs typeface="Arial MT"/>
              </a:rPr>
              <a:t> </a:t>
            </a:r>
            <a:r>
              <a:rPr sz="4100" spc="-35" dirty="0">
                <a:solidFill>
                  <a:srgbClr val="164944"/>
                </a:solidFill>
                <a:latin typeface="Arial MT"/>
                <a:cs typeface="Arial MT"/>
              </a:rPr>
              <a:t>and </a:t>
            </a:r>
            <a:r>
              <a:rPr sz="4100" spc="-20" dirty="0">
                <a:solidFill>
                  <a:srgbClr val="08463F"/>
                </a:solidFill>
                <a:latin typeface="Arial MT"/>
                <a:cs typeface="Arial MT"/>
              </a:rPr>
              <a:t>emergency</a:t>
            </a:r>
            <a:r>
              <a:rPr sz="4100" spc="-130" dirty="0">
                <a:solidFill>
                  <a:srgbClr val="08463F"/>
                </a:solidFill>
                <a:latin typeface="Arial MT"/>
                <a:cs typeface="Arial MT"/>
              </a:rPr>
              <a:t> </a:t>
            </a:r>
            <a:r>
              <a:rPr sz="4100" spc="-25" dirty="0">
                <a:solidFill>
                  <a:srgbClr val="114842"/>
                </a:solidFill>
                <a:latin typeface="Arial MT"/>
                <a:cs typeface="Arial MT"/>
              </a:rPr>
              <a:t>response</a:t>
            </a:r>
            <a:r>
              <a:rPr sz="4100" spc="-229" dirty="0">
                <a:solidFill>
                  <a:srgbClr val="114842"/>
                </a:solidFill>
                <a:latin typeface="Arial MT"/>
                <a:cs typeface="Arial MT"/>
              </a:rPr>
              <a:t> </a:t>
            </a:r>
            <a:r>
              <a:rPr sz="4100" spc="-10" dirty="0">
                <a:solidFill>
                  <a:srgbClr val="0E544B"/>
                </a:solidFill>
                <a:latin typeface="Arial MT"/>
                <a:cs typeface="Arial MT"/>
              </a:rPr>
              <a:t>ecosystem.</a:t>
            </a:r>
            <a:endParaRPr sz="4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3782" y="8358716"/>
            <a:ext cx="1078801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25" dirty="0">
                <a:solidFill>
                  <a:srgbClr val="085246"/>
                </a:solidFill>
                <a:latin typeface="Arial MT"/>
                <a:cs typeface="Arial MT"/>
              </a:rPr>
              <a:t>Sanrakshan</a:t>
            </a:r>
            <a:r>
              <a:rPr sz="3300" spc="55" dirty="0">
                <a:solidFill>
                  <a:srgbClr val="085246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A4D44"/>
                </a:solidFill>
                <a:latin typeface="Arial MT"/>
                <a:cs typeface="Arial MT"/>
              </a:rPr>
              <a:t>serves</a:t>
            </a:r>
            <a:r>
              <a:rPr sz="3300" spc="5" dirty="0">
                <a:solidFill>
                  <a:srgbClr val="0A4D44"/>
                </a:solidFill>
                <a:latin typeface="Arial MT"/>
                <a:cs typeface="Arial MT"/>
              </a:rPr>
              <a:t> </a:t>
            </a:r>
            <a:r>
              <a:rPr sz="3300" spc="-25" dirty="0">
                <a:solidFill>
                  <a:srgbClr val="0A5B4D"/>
                </a:solidFill>
                <a:latin typeface="Arial MT"/>
                <a:cs typeface="Arial MT"/>
              </a:rPr>
              <a:t>as</a:t>
            </a:r>
            <a:r>
              <a:rPr sz="3300" spc="-265" dirty="0">
                <a:solidFill>
                  <a:srgbClr val="0A5B4D"/>
                </a:solidFill>
                <a:latin typeface="Arial MT"/>
                <a:cs typeface="Arial MT"/>
              </a:rPr>
              <a:t> </a:t>
            </a:r>
            <a:r>
              <a:rPr sz="3300" spc="-25" dirty="0">
                <a:solidFill>
                  <a:srgbClr val="0F564B"/>
                </a:solidFill>
                <a:latin typeface="Arial MT"/>
                <a:cs typeface="Arial MT"/>
              </a:rPr>
              <a:t>a</a:t>
            </a:r>
            <a:r>
              <a:rPr sz="3300" spc="-210" dirty="0">
                <a:solidFill>
                  <a:srgbClr val="0F564B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C4F44"/>
                </a:solidFill>
                <a:latin typeface="Arial MT"/>
                <a:cs typeface="Arial MT"/>
              </a:rPr>
              <a:t>bridge</a:t>
            </a:r>
            <a:r>
              <a:rPr sz="3300" spc="-15" dirty="0">
                <a:solidFill>
                  <a:srgbClr val="0C4F44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C4F48"/>
                </a:solidFill>
                <a:latin typeface="Arial MT"/>
                <a:cs typeface="Arial MT"/>
              </a:rPr>
              <a:t>between</a:t>
            </a:r>
            <a:r>
              <a:rPr sz="3300" spc="-120" dirty="0">
                <a:solidFill>
                  <a:srgbClr val="0C4F48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A5246"/>
                </a:solidFill>
                <a:latin typeface="Arial MT"/>
                <a:cs typeface="Arial MT"/>
              </a:rPr>
              <a:t>panic</a:t>
            </a:r>
            <a:r>
              <a:rPr sz="3300" spc="-100" dirty="0">
                <a:solidFill>
                  <a:srgbClr val="0A5246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5524B"/>
                </a:solidFill>
                <a:latin typeface="Arial MT"/>
                <a:cs typeface="Arial MT"/>
              </a:rPr>
              <a:t>and</a:t>
            </a:r>
            <a:r>
              <a:rPr sz="3300" spc="-110" dirty="0">
                <a:solidFill>
                  <a:srgbClr val="05524B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C4641"/>
                </a:solidFill>
                <a:latin typeface="Arial MT"/>
                <a:cs typeface="Arial MT"/>
              </a:rPr>
              <a:t>safety.</a:t>
            </a:r>
            <a:endParaRPr sz="330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3B4EF2-B2FE-9CD6-2DF9-8FB4FCFF9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609600"/>
            <a:ext cx="46482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4700" y="1866900"/>
            <a:ext cx="4648200" cy="6019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0100" y="3009900"/>
            <a:ext cx="1752600" cy="292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7400" y="5029200"/>
            <a:ext cx="2857500" cy="368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90100" y="7029450"/>
            <a:ext cx="2413000" cy="3873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32853" y="682977"/>
            <a:ext cx="5671185" cy="194373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marR="5080" indent="8890">
              <a:lnSpc>
                <a:spcPct val="84100"/>
              </a:lnSpc>
              <a:spcBef>
                <a:spcPts val="1015"/>
              </a:spcBef>
            </a:pPr>
            <a:r>
              <a:rPr sz="4700" dirty="0">
                <a:solidFill>
                  <a:srgbClr val="03645B"/>
                </a:solidFill>
              </a:rPr>
              <a:t>Rooted</a:t>
            </a:r>
            <a:r>
              <a:rPr sz="4700" spc="100" dirty="0">
                <a:solidFill>
                  <a:srgbClr val="03645B"/>
                </a:solidFill>
              </a:rPr>
              <a:t> </a:t>
            </a:r>
            <a:r>
              <a:rPr sz="4700" spc="130" dirty="0">
                <a:solidFill>
                  <a:srgbClr val="086257"/>
                </a:solidFill>
              </a:rPr>
              <a:t>in</a:t>
            </a:r>
            <a:r>
              <a:rPr sz="4700" spc="-185" dirty="0">
                <a:solidFill>
                  <a:srgbClr val="086257"/>
                </a:solidFill>
              </a:rPr>
              <a:t> </a:t>
            </a:r>
            <a:r>
              <a:rPr sz="4700" dirty="0">
                <a:solidFill>
                  <a:srgbClr val="01594F"/>
                </a:solidFill>
              </a:rPr>
              <a:t>the</a:t>
            </a:r>
            <a:r>
              <a:rPr sz="4700" spc="-120" dirty="0">
                <a:solidFill>
                  <a:srgbClr val="01594F"/>
                </a:solidFill>
              </a:rPr>
              <a:t> </a:t>
            </a:r>
            <a:r>
              <a:rPr sz="4700" spc="-10" dirty="0">
                <a:solidFill>
                  <a:srgbClr val="056257"/>
                </a:solidFill>
              </a:rPr>
              <a:t>Cultural </a:t>
            </a:r>
            <a:r>
              <a:rPr sz="4700" spc="-10" dirty="0">
                <a:solidFill>
                  <a:srgbClr val="01544B"/>
                </a:solidFill>
              </a:rPr>
              <a:t>Value</a:t>
            </a:r>
            <a:r>
              <a:rPr sz="4700" spc="-155" dirty="0">
                <a:solidFill>
                  <a:srgbClr val="01544B"/>
                </a:solidFill>
              </a:rPr>
              <a:t> </a:t>
            </a:r>
            <a:r>
              <a:rPr sz="4700" dirty="0">
                <a:solidFill>
                  <a:srgbClr val="01564F"/>
                </a:solidFill>
              </a:rPr>
              <a:t>of</a:t>
            </a:r>
            <a:r>
              <a:rPr sz="4700" spc="-90" dirty="0">
                <a:solidFill>
                  <a:srgbClr val="01564F"/>
                </a:solidFill>
              </a:rPr>
              <a:t> </a:t>
            </a:r>
            <a:r>
              <a:rPr sz="4700" spc="-10" dirty="0">
                <a:solidFill>
                  <a:srgbClr val="03645B"/>
                </a:solidFill>
              </a:rPr>
              <a:t>Collective </a:t>
            </a:r>
            <a:r>
              <a:rPr sz="4650" spc="-10" dirty="0">
                <a:solidFill>
                  <a:srgbClr val="055D50"/>
                </a:solidFill>
              </a:rPr>
              <a:t>Responsibility</a:t>
            </a:r>
            <a:endParaRPr sz="4650"/>
          </a:p>
        </p:txBody>
      </p:sp>
      <p:sp>
        <p:nvSpPr>
          <p:cNvPr id="7" name="object 7"/>
          <p:cNvSpPr txBox="1"/>
          <p:nvPr/>
        </p:nvSpPr>
        <p:spPr>
          <a:xfrm>
            <a:off x="9650438" y="3496027"/>
            <a:ext cx="6285865" cy="1095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7620">
              <a:lnSpc>
                <a:spcPct val="100000"/>
              </a:lnSpc>
              <a:spcBef>
                <a:spcPts val="120"/>
              </a:spcBef>
            </a:pPr>
            <a:r>
              <a:rPr sz="2200" spc="-45" dirty="0">
                <a:latin typeface="Arial MT"/>
                <a:cs typeface="Arial MT"/>
              </a:rPr>
              <a:t>The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term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'Sanrakshan'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originates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Sanskrit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300" spc="-70" dirty="0">
                <a:latin typeface="Arial MT"/>
                <a:cs typeface="Arial MT"/>
              </a:rPr>
              <a:t>Hindi,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signifying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45" dirty="0">
                <a:latin typeface="Arial MT"/>
                <a:cs typeface="Arial MT"/>
              </a:rPr>
              <a:t>Protection,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Preservation,</a:t>
            </a:r>
            <a:r>
              <a:rPr sz="2300" spc="4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and </a:t>
            </a:r>
            <a:r>
              <a:rPr sz="2500" spc="-120" dirty="0">
                <a:latin typeface="Arial MT"/>
                <a:cs typeface="Arial MT"/>
              </a:rPr>
              <a:t>Safeguarding.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45958" y="5497688"/>
            <a:ext cx="6417945" cy="10966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1430">
              <a:lnSpc>
                <a:spcPct val="102499"/>
              </a:lnSpc>
              <a:spcBef>
                <a:spcPts val="40"/>
              </a:spcBef>
            </a:pPr>
            <a:r>
              <a:rPr sz="2350" spc="-185" dirty="0">
                <a:latin typeface="Arial MT"/>
                <a:cs typeface="Arial MT"/>
              </a:rPr>
              <a:t>The</a:t>
            </a:r>
            <a:r>
              <a:rPr sz="2350" spc="5" dirty="0">
                <a:latin typeface="Arial MT"/>
                <a:cs typeface="Arial MT"/>
              </a:rPr>
              <a:t> </a:t>
            </a:r>
            <a:r>
              <a:rPr sz="2350" spc="-70" dirty="0">
                <a:latin typeface="Arial MT"/>
                <a:cs typeface="Arial MT"/>
              </a:rPr>
              <a:t>platform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is</a:t>
            </a:r>
            <a:r>
              <a:rPr sz="2350" spc="-160" dirty="0">
                <a:latin typeface="Arial MT"/>
                <a:cs typeface="Arial MT"/>
              </a:rPr>
              <a:t> </a:t>
            </a:r>
            <a:r>
              <a:rPr sz="2350" spc="-290" dirty="0">
                <a:latin typeface="Arial MT"/>
                <a:cs typeface="Arial MT"/>
              </a:rPr>
              <a:t>a</a:t>
            </a:r>
            <a:r>
              <a:rPr sz="2350" spc="25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digital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spc="-75" dirty="0">
                <a:latin typeface="Arial MT"/>
                <a:cs typeface="Arial MT"/>
              </a:rPr>
              <a:t>manifestation</a:t>
            </a:r>
            <a:r>
              <a:rPr sz="2350" spc="9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of</a:t>
            </a:r>
            <a:r>
              <a:rPr sz="2350" spc="-5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the</a:t>
            </a:r>
            <a:r>
              <a:rPr sz="2350" spc="-145" dirty="0">
                <a:latin typeface="Arial MT"/>
                <a:cs typeface="Arial MT"/>
              </a:rPr>
              <a:t> </a:t>
            </a:r>
            <a:r>
              <a:rPr sz="2350" spc="-50" dirty="0">
                <a:latin typeface="Arial MT"/>
                <a:cs typeface="Arial MT"/>
              </a:rPr>
              <a:t>cultural </a:t>
            </a:r>
            <a:r>
              <a:rPr sz="2200" dirty="0">
                <a:latin typeface="Arial MT"/>
                <a:cs typeface="Arial MT"/>
              </a:rPr>
              <a:t>imperative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protect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life,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community,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future </a:t>
            </a:r>
            <a:r>
              <a:rPr sz="2350" spc="-30" dirty="0">
                <a:latin typeface="Arial MT"/>
                <a:cs typeface="Arial MT"/>
              </a:rPr>
              <a:t>generations.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53863" y="7504289"/>
            <a:ext cx="6664959" cy="11093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270">
              <a:lnSpc>
                <a:spcPct val="101099"/>
              </a:lnSpc>
              <a:spcBef>
                <a:spcPts val="80"/>
              </a:spcBef>
            </a:pPr>
            <a:r>
              <a:rPr sz="2350" spc="-105" dirty="0">
                <a:latin typeface="Arial MT"/>
                <a:cs typeface="Arial MT"/>
              </a:rPr>
              <a:t>Moving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95" dirty="0">
                <a:latin typeface="Arial MT"/>
                <a:cs typeface="Arial MT"/>
              </a:rPr>
              <a:t>beyond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spc="-80" dirty="0">
                <a:latin typeface="Arial MT"/>
                <a:cs typeface="Arial MT"/>
              </a:rPr>
              <a:t>reactive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140" dirty="0">
                <a:latin typeface="Arial MT"/>
                <a:cs typeface="Arial MT"/>
              </a:rPr>
              <a:t>measures</a:t>
            </a:r>
            <a:r>
              <a:rPr sz="2350" spc="4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to</a:t>
            </a:r>
            <a:r>
              <a:rPr sz="2350" spc="-110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foster</a:t>
            </a:r>
            <a:r>
              <a:rPr sz="2350" spc="20" dirty="0">
                <a:latin typeface="Arial MT"/>
                <a:cs typeface="Arial MT"/>
              </a:rPr>
              <a:t> </a:t>
            </a:r>
            <a:r>
              <a:rPr sz="2350" spc="-290" dirty="0">
                <a:latin typeface="Arial MT"/>
                <a:cs typeface="Arial MT"/>
              </a:rPr>
              <a:t>a</a:t>
            </a:r>
            <a:r>
              <a:rPr sz="2350" spc="1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culture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spc="-85" dirty="0">
                <a:latin typeface="Arial MT"/>
                <a:cs typeface="Arial MT"/>
              </a:rPr>
              <a:t>proactive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spc="-100" dirty="0">
                <a:latin typeface="Arial MT"/>
                <a:cs typeface="Arial MT"/>
              </a:rPr>
              <a:t>preparedness</a:t>
            </a:r>
            <a:r>
              <a:rPr sz="2350" spc="60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through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structured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80" dirty="0">
                <a:latin typeface="Arial MT"/>
                <a:cs typeface="Arial MT"/>
              </a:rPr>
              <a:t>learning </a:t>
            </a:r>
            <a:r>
              <a:rPr sz="2350" spc="-120" dirty="0">
                <a:latin typeface="Arial MT"/>
                <a:cs typeface="Arial MT"/>
              </a:rPr>
              <a:t>and</a:t>
            </a:r>
            <a:r>
              <a:rPr sz="2350" spc="-40" dirty="0">
                <a:latin typeface="Arial MT"/>
                <a:cs typeface="Arial MT"/>
              </a:rPr>
              <a:t> </a:t>
            </a:r>
            <a:r>
              <a:rPr sz="2350" spc="-85" dirty="0">
                <a:latin typeface="Arial MT"/>
                <a:cs typeface="Arial MT"/>
              </a:rPr>
              <a:t>guided</a:t>
            </a:r>
            <a:r>
              <a:rPr sz="2350" spc="-5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systems.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175000"/>
            <a:ext cx="2349500" cy="1854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6300" y="3175000"/>
            <a:ext cx="2336800" cy="1854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7800" y="3175000"/>
            <a:ext cx="2336800" cy="18542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585200" y="3807883"/>
            <a:ext cx="220345" cy="0"/>
          </a:xfrm>
          <a:custGeom>
            <a:avLst/>
            <a:gdLst/>
            <a:ahLst/>
            <a:cxnLst/>
            <a:rect l="l" t="t" r="r" b="b"/>
            <a:pathLst>
              <a:path w="220345">
                <a:moveTo>
                  <a:pt x="0" y="0"/>
                </a:moveTo>
                <a:lnTo>
                  <a:pt x="2201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85100" y="156845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2100" y="3175000"/>
            <a:ext cx="4229100" cy="1854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57200" y="3543300"/>
            <a:ext cx="825500" cy="10287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05400" y="3492500"/>
            <a:ext cx="2032000" cy="8763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028700" y="788811"/>
            <a:ext cx="3380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790700" algn="l"/>
              </a:tabLst>
            </a:pPr>
            <a:r>
              <a:rPr sz="2600" spc="-10" dirty="0">
                <a:latin typeface="Cambria"/>
                <a:cs typeface="Cambria"/>
              </a:rPr>
              <a:t>Institutional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35" dirty="0">
                <a:latin typeface="Cambria"/>
                <a:cs typeface="Cambria"/>
              </a:rPr>
              <a:t>Modernism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39820" y="1335616"/>
            <a:ext cx="14138910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dirty="0">
                <a:solidFill>
                  <a:srgbClr val="016456"/>
                </a:solidFill>
              </a:rPr>
              <a:t>The</a:t>
            </a:r>
            <a:r>
              <a:rPr sz="5800" spc="-320" dirty="0">
                <a:solidFill>
                  <a:srgbClr val="016456"/>
                </a:solidFill>
              </a:rPr>
              <a:t> </a:t>
            </a:r>
            <a:r>
              <a:rPr sz="5800" dirty="0">
                <a:solidFill>
                  <a:srgbClr val="036459"/>
                </a:solidFill>
              </a:rPr>
              <a:t>Gap</a:t>
            </a:r>
            <a:r>
              <a:rPr sz="5800" spc="-335" dirty="0">
                <a:solidFill>
                  <a:srgbClr val="036459"/>
                </a:solidFill>
              </a:rPr>
              <a:t> </a:t>
            </a:r>
            <a:r>
              <a:rPr sz="5800" spc="-80" dirty="0">
                <a:solidFill>
                  <a:srgbClr val="035D52"/>
                </a:solidFill>
              </a:rPr>
              <a:t>Between</a:t>
            </a:r>
            <a:r>
              <a:rPr sz="5800" spc="-240" dirty="0">
                <a:solidFill>
                  <a:srgbClr val="035D52"/>
                </a:solidFill>
              </a:rPr>
              <a:t> </a:t>
            </a:r>
            <a:r>
              <a:rPr sz="5800" dirty="0">
                <a:solidFill>
                  <a:srgbClr val="05574D"/>
                </a:solidFill>
              </a:rPr>
              <a:t>Disaster</a:t>
            </a:r>
            <a:r>
              <a:rPr sz="5800" spc="35" dirty="0">
                <a:solidFill>
                  <a:srgbClr val="05574D"/>
                </a:solidFill>
              </a:rPr>
              <a:t> </a:t>
            </a:r>
            <a:r>
              <a:rPr sz="5800" dirty="0">
                <a:solidFill>
                  <a:srgbClr val="015B52"/>
                </a:solidFill>
              </a:rPr>
              <a:t>and</a:t>
            </a:r>
            <a:r>
              <a:rPr sz="5800" spc="-220" dirty="0">
                <a:solidFill>
                  <a:srgbClr val="015B52"/>
                </a:solidFill>
              </a:rPr>
              <a:t> </a:t>
            </a:r>
            <a:r>
              <a:rPr sz="5800" dirty="0">
                <a:solidFill>
                  <a:srgbClr val="03564B"/>
                </a:solidFill>
              </a:rPr>
              <a:t>Safety</a:t>
            </a:r>
            <a:r>
              <a:rPr sz="5800" spc="-60" dirty="0">
                <a:solidFill>
                  <a:srgbClr val="03564B"/>
                </a:solidFill>
              </a:rPr>
              <a:t> </a:t>
            </a:r>
            <a:r>
              <a:rPr sz="5800" spc="120" dirty="0">
                <a:solidFill>
                  <a:srgbClr val="036659"/>
                </a:solidFill>
              </a:rPr>
              <a:t>is</a:t>
            </a:r>
            <a:r>
              <a:rPr sz="5800" spc="-360" dirty="0">
                <a:solidFill>
                  <a:srgbClr val="036659"/>
                </a:solidFill>
              </a:rPr>
              <a:t> </a:t>
            </a:r>
            <a:r>
              <a:rPr sz="5800" spc="-20" dirty="0">
                <a:solidFill>
                  <a:srgbClr val="036052"/>
                </a:solidFill>
              </a:rPr>
              <a:t>Panic</a:t>
            </a:r>
            <a:endParaRPr sz="5800"/>
          </a:p>
        </p:txBody>
      </p:sp>
      <p:sp>
        <p:nvSpPr>
          <p:cNvPr id="12" name="object 12"/>
          <p:cNvSpPr txBox="1"/>
          <p:nvPr/>
        </p:nvSpPr>
        <p:spPr>
          <a:xfrm>
            <a:off x="1203694" y="5273322"/>
            <a:ext cx="1873250" cy="83629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14984" marR="5080" indent="-502920">
              <a:lnSpc>
                <a:spcPts val="3050"/>
              </a:lnSpc>
              <a:spcBef>
                <a:spcPts val="434"/>
              </a:spcBef>
            </a:pPr>
            <a:r>
              <a:rPr sz="2750" spc="50" dirty="0">
                <a:solidFill>
                  <a:srgbClr val="363636"/>
                </a:solidFill>
                <a:latin typeface="Cambria"/>
                <a:cs typeface="Cambria"/>
              </a:rPr>
              <a:t>Unexpected </a:t>
            </a:r>
            <a:r>
              <a:rPr sz="2750" spc="-10" dirty="0">
                <a:solidFill>
                  <a:srgbClr val="2D2D2D"/>
                </a:solidFill>
                <a:latin typeface="Cambria"/>
                <a:cs typeface="Cambria"/>
              </a:rPr>
              <a:t>Event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1875" y="6738263"/>
            <a:ext cx="4521200" cy="201739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950" spc="140" dirty="0">
                <a:solidFill>
                  <a:srgbClr val="116052"/>
                </a:solidFill>
                <a:latin typeface="Cambria"/>
                <a:cs typeface="Cambria"/>
              </a:rPr>
              <a:t>The</a:t>
            </a:r>
            <a:r>
              <a:rPr sz="2950" spc="-90" dirty="0">
                <a:solidFill>
                  <a:srgbClr val="116052"/>
                </a:solidFill>
                <a:latin typeface="Cambria"/>
                <a:cs typeface="Cambria"/>
              </a:rPr>
              <a:t> </a:t>
            </a:r>
            <a:r>
              <a:rPr sz="2950" spc="-10" dirty="0">
                <a:solidFill>
                  <a:srgbClr val="0E5B4D"/>
                </a:solidFill>
                <a:latin typeface="Cambria"/>
                <a:cs typeface="Cambria"/>
              </a:rPr>
              <a:t>Reality</a:t>
            </a:r>
            <a:endParaRPr sz="2950">
              <a:latin typeface="Cambria"/>
              <a:cs typeface="Cambria"/>
            </a:endParaRPr>
          </a:p>
          <a:p>
            <a:pPr marL="19685" marR="5080" indent="-2540">
              <a:lnSpc>
                <a:spcPct val="101099"/>
              </a:lnSpc>
              <a:spcBef>
                <a:spcPts val="1075"/>
              </a:spcBef>
              <a:tabLst>
                <a:tab pos="1223010" algn="l"/>
              </a:tabLst>
            </a:pPr>
            <a:r>
              <a:rPr sz="2700" dirty="0">
                <a:latin typeface="Cambria"/>
                <a:cs typeface="Cambria"/>
              </a:rPr>
              <a:t>Disasters</a:t>
            </a:r>
            <a:r>
              <a:rPr sz="2700" spc="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occur</a:t>
            </a:r>
            <a:r>
              <a:rPr sz="2700" spc="12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unexpectedly, but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60" dirty="0">
                <a:latin typeface="Cambria"/>
                <a:cs typeface="Cambria"/>
              </a:rPr>
              <a:t>immediate</a:t>
            </a:r>
            <a:r>
              <a:rPr sz="2700" spc="6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aftermath</a:t>
            </a:r>
            <a:r>
              <a:rPr sz="2700" spc="14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is </a:t>
            </a:r>
            <a:r>
              <a:rPr sz="2700" spc="-10" dirty="0">
                <a:latin typeface="Cambria"/>
                <a:cs typeface="Cambria"/>
              </a:rPr>
              <a:t>defined</a:t>
            </a:r>
            <a:r>
              <a:rPr sz="2700" dirty="0">
                <a:latin typeface="Cambria"/>
                <a:cs typeface="Cambria"/>
              </a:rPr>
              <a:t>	</a:t>
            </a:r>
            <a:r>
              <a:rPr sz="2700" spc="-10" dirty="0">
                <a:latin typeface="Cambria"/>
                <a:cs typeface="Cambria"/>
              </a:rPr>
              <a:t>by</a:t>
            </a:r>
            <a:r>
              <a:rPr sz="2700" spc="-10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chaos.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9957" y="5273322"/>
            <a:ext cx="283654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60" dirty="0">
                <a:solidFill>
                  <a:srgbClr val="343434"/>
                </a:solidFill>
                <a:latin typeface="Cambria"/>
                <a:cs typeface="Cambria"/>
              </a:rPr>
              <a:t>Panic</a:t>
            </a:r>
            <a:r>
              <a:rPr sz="2750" spc="10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750" spc="-340" dirty="0">
                <a:solidFill>
                  <a:srgbClr val="464646"/>
                </a:solidFill>
                <a:latin typeface="Cambria"/>
                <a:cs typeface="Cambria"/>
              </a:rPr>
              <a:t>&amp;</a:t>
            </a:r>
            <a:r>
              <a:rPr sz="2750" spc="85" dirty="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313131"/>
                </a:solidFill>
                <a:latin typeface="Cambria"/>
                <a:cs typeface="Cambria"/>
              </a:rPr>
              <a:t>Confusion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67657" y="5273322"/>
            <a:ext cx="270129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solidFill>
                  <a:srgbClr val="3A3A3A"/>
                </a:solidFill>
                <a:latin typeface="Cambria"/>
                <a:cs typeface="Cambria"/>
              </a:rPr>
              <a:t>Lack</a:t>
            </a:r>
            <a:r>
              <a:rPr sz="2750" spc="140" dirty="0">
                <a:solidFill>
                  <a:srgbClr val="3A3A3A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313131"/>
                </a:solidFill>
                <a:latin typeface="Cambria"/>
                <a:cs typeface="Cambria"/>
              </a:rPr>
              <a:t>of</a:t>
            </a:r>
            <a:r>
              <a:rPr sz="2750" spc="22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333333"/>
                </a:solidFill>
                <a:latin typeface="Cambria"/>
                <a:cs typeface="Cambria"/>
              </a:rPr>
              <a:t>Guidance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43494" y="6776298"/>
            <a:ext cx="3883660" cy="156845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  <a:tabLst>
                <a:tab pos="2108200" algn="l"/>
              </a:tabLst>
            </a:pPr>
            <a:r>
              <a:rPr sz="2950" spc="-10" dirty="0">
                <a:solidFill>
                  <a:srgbClr val="036254"/>
                </a:solidFill>
                <a:latin typeface="Cambria"/>
                <a:cs typeface="Cambria"/>
              </a:rPr>
              <a:t>Educational</a:t>
            </a:r>
            <a:r>
              <a:rPr sz="2950" dirty="0">
                <a:solidFill>
                  <a:srgbClr val="036254"/>
                </a:solidFill>
                <a:latin typeface="Cambria"/>
                <a:cs typeface="Cambria"/>
              </a:rPr>
              <a:t>	</a:t>
            </a:r>
            <a:r>
              <a:rPr sz="2950" spc="75" dirty="0">
                <a:solidFill>
                  <a:srgbClr val="0A5D50"/>
                </a:solidFill>
                <a:latin typeface="Cambria"/>
                <a:cs typeface="Cambria"/>
              </a:rPr>
              <a:t>Deficits</a:t>
            </a:r>
            <a:endParaRPr sz="2950">
              <a:latin typeface="Cambria"/>
              <a:cs typeface="Cambria"/>
            </a:endParaRPr>
          </a:p>
          <a:p>
            <a:pPr marL="12700">
              <a:lnSpc>
                <a:spcPts val="3465"/>
              </a:lnSpc>
              <a:spcBef>
                <a:spcPts val="910"/>
              </a:spcBef>
            </a:pPr>
            <a:r>
              <a:rPr sz="2900" spc="-150" dirty="0">
                <a:latin typeface="Cambria"/>
                <a:cs typeface="Cambria"/>
              </a:rPr>
              <a:t>Institutions</a:t>
            </a:r>
            <a:r>
              <a:rPr sz="2900" spc="70" dirty="0">
                <a:latin typeface="Cambria"/>
                <a:cs typeface="Cambria"/>
              </a:rPr>
              <a:t> </a:t>
            </a:r>
            <a:r>
              <a:rPr sz="2900" spc="-120" dirty="0">
                <a:latin typeface="Cambria"/>
                <a:cs typeface="Cambria"/>
              </a:rPr>
              <a:t>lack</a:t>
            </a:r>
            <a:r>
              <a:rPr sz="2900" spc="-40" dirty="0">
                <a:latin typeface="Cambria"/>
                <a:cs typeface="Cambria"/>
              </a:rPr>
              <a:t> </a:t>
            </a:r>
            <a:r>
              <a:rPr sz="2900" spc="-130" dirty="0">
                <a:latin typeface="Cambria"/>
                <a:cs typeface="Cambria"/>
              </a:rPr>
              <a:t>interactive</a:t>
            </a:r>
            <a:endParaRPr sz="2900">
              <a:latin typeface="Cambria"/>
              <a:cs typeface="Cambria"/>
            </a:endParaRPr>
          </a:p>
          <a:p>
            <a:pPr marL="22225">
              <a:lnSpc>
                <a:spcPts val="3285"/>
              </a:lnSpc>
            </a:pPr>
            <a:r>
              <a:rPr sz="2750" spc="-40" dirty="0">
                <a:latin typeface="Cambria"/>
                <a:cs typeface="Cambria"/>
              </a:rPr>
              <a:t>preparedness</a:t>
            </a:r>
            <a:r>
              <a:rPr sz="2750" spc="-10" dirty="0">
                <a:latin typeface="Cambria"/>
                <a:cs typeface="Cambria"/>
              </a:rPr>
              <a:t> systems.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09902" y="5279672"/>
            <a:ext cx="138239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70" dirty="0">
                <a:solidFill>
                  <a:srgbClr val="363636"/>
                </a:solidFill>
                <a:latin typeface="Cambria"/>
                <a:cs typeface="Cambria"/>
              </a:rPr>
              <a:t>Casualty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93533" y="6748747"/>
            <a:ext cx="4430395" cy="20008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310"/>
              </a:spcBef>
            </a:pPr>
            <a:r>
              <a:rPr sz="2900" dirty="0">
                <a:solidFill>
                  <a:srgbClr val="076456"/>
                </a:solidFill>
                <a:latin typeface="Arial MT"/>
                <a:cs typeface="Arial MT"/>
              </a:rPr>
              <a:t>Vulnerable</a:t>
            </a:r>
            <a:r>
              <a:rPr sz="2900" spc="390" dirty="0">
                <a:solidFill>
                  <a:srgbClr val="076456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055044"/>
                </a:solidFill>
                <a:latin typeface="Arial MT"/>
                <a:cs typeface="Arial MT"/>
              </a:rPr>
              <a:t>Demographics</a:t>
            </a:r>
            <a:endParaRPr sz="2900">
              <a:latin typeface="Arial MT"/>
              <a:cs typeface="Arial MT"/>
            </a:endParaRPr>
          </a:p>
          <a:p>
            <a:pPr marL="12700" marR="513080" indent="10160">
              <a:lnSpc>
                <a:spcPct val="100000"/>
              </a:lnSpc>
              <a:spcBef>
                <a:spcPts val="1120"/>
              </a:spcBef>
            </a:pPr>
            <a:r>
              <a:rPr sz="2700" spc="-45" dirty="0">
                <a:latin typeface="Cambria"/>
                <a:cs typeface="Cambria"/>
              </a:rPr>
              <a:t>Children</a:t>
            </a:r>
            <a:r>
              <a:rPr sz="2700" spc="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lack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structured </a:t>
            </a:r>
            <a:r>
              <a:rPr sz="2700" dirty="0">
                <a:latin typeface="Cambria"/>
                <a:cs typeface="Cambria"/>
              </a:rPr>
              <a:t>education;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public</a:t>
            </a:r>
            <a:r>
              <a:rPr sz="2700" spc="1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lacks </a:t>
            </a:r>
            <a:r>
              <a:rPr sz="2700" dirty="0">
                <a:latin typeface="Cambria"/>
                <a:cs typeface="Cambria"/>
              </a:rPr>
              <a:t>accessible</a:t>
            </a:r>
            <a:r>
              <a:rPr sz="2700" spc="484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tools.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000" y="5397500"/>
            <a:ext cx="3098800" cy="2590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4000" y="2209800"/>
            <a:ext cx="3098800" cy="2730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8200" y="3695700"/>
            <a:ext cx="3098800" cy="3073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33200" y="5384800"/>
            <a:ext cx="3086100" cy="2603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33200" y="2209800"/>
            <a:ext cx="3086100" cy="27305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12842" y="369711"/>
            <a:ext cx="7776845" cy="14884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 marR="5080" indent="798195">
              <a:lnSpc>
                <a:spcPts val="5350"/>
              </a:lnSpc>
              <a:spcBef>
                <a:spcPts val="955"/>
              </a:spcBef>
            </a:pPr>
            <a:r>
              <a:rPr sz="5100" spc="95" dirty="0">
                <a:solidFill>
                  <a:srgbClr val="03695D"/>
                </a:solidFill>
              </a:rPr>
              <a:t>A</a:t>
            </a:r>
            <a:r>
              <a:rPr sz="5100" spc="-170" dirty="0">
                <a:solidFill>
                  <a:srgbClr val="03695D"/>
                </a:solidFill>
              </a:rPr>
              <a:t> </a:t>
            </a:r>
            <a:r>
              <a:rPr sz="5100" dirty="0">
                <a:solidFill>
                  <a:srgbClr val="056B5D"/>
                </a:solidFill>
              </a:rPr>
              <a:t>Unified</a:t>
            </a:r>
            <a:r>
              <a:rPr sz="5100" spc="155" dirty="0">
                <a:solidFill>
                  <a:srgbClr val="056B5D"/>
                </a:solidFill>
              </a:rPr>
              <a:t> </a:t>
            </a:r>
            <a:r>
              <a:rPr sz="5100" dirty="0">
                <a:solidFill>
                  <a:srgbClr val="05675B"/>
                </a:solidFill>
              </a:rPr>
              <a:t>Platform</a:t>
            </a:r>
            <a:r>
              <a:rPr sz="5100" spc="295" dirty="0">
                <a:solidFill>
                  <a:srgbClr val="05675B"/>
                </a:solidFill>
              </a:rPr>
              <a:t> </a:t>
            </a:r>
            <a:r>
              <a:rPr sz="5100" spc="55" dirty="0">
                <a:solidFill>
                  <a:srgbClr val="03594D"/>
                </a:solidFill>
              </a:rPr>
              <a:t>for </a:t>
            </a:r>
            <a:r>
              <a:rPr sz="5100" spc="-20" dirty="0">
                <a:solidFill>
                  <a:srgbClr val="05675B"/>
                </a:solidFill>
              </a:rPr>
              <a:t>Preparedness</a:t>
            </a:r>
            <a:r>
              <a:rPr sz="5100" spc="35" dirty="0">
                <a:solidFill>
                  <a:srgbClr val="05675B"/>
                </a:solidFill>
              </a:rPr>
              <a:t> </a:t>
            </a:r>
            <a:r>
              <a:rPr sz="5100" dirty="0">
                <a:solidFill>
                  <a:srgbClr val="055B52"/>
                </a:solidFill>
              </a:rPr>
              <a:t>and</a:t>
            </a:r>
            <a:r>
              <a:rPr sz="5100" spc="-280" dirty="0">
                <a:solidFill>
                  <a:srgbClr val="055B52"/>
                </a:solidFill>
              </a:rPr>
              <a:t> </a:t>
            </a:r>
            <a:r>
              <a:rPr sz="5100" spc="-10" dirty="0">
                <a:solidFill>
                  <a:srgbClr val="056056"/>
                </a:solidFill>
              </a:rPr>
              <a:t>Response</a:t>
            </a:r>
            <a:endParaRPr sz="5100"/>
          </a:p>
        </p:txBody>
      </p:sp>
      <p:sp>
        <p:nvSpPr>
          <p:cNvPr id="8" name="object 8"/>
          <p:cNvSpPr txBox="1"/>
          <p:nvPr/>
        </p:nvSpPr>
        <p:spPr>
          <a:xfrm>
            <a:off x="3182368" y="3978627"/>
            <a:ext cx="2169160" cy="6819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40690" marR="5080" indent="-428625">
              <a:lnSpc>
                <a:spcPts val="2500"/>
              </a:lnSpc>
              <a:spcBef>
                <a:spcPts val="320"/>
              </a:spcBef>
            </a:pPr>
            <a:r>
              <a:rPr sz="2200" spc="-165" dirty="0">
                <a:latin typeface="Arial MT"/>
                <a:cs typeface="Arial MT"/>
              </a:rPr>
              <a:t>1.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Emergency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Exit </a:t>
            </a:r>
            <a:r>
              <a:rPr sz="2200" spc="-10" dirty="0">
                <a:latin typeface="Arial MT"/>
                <a:cs typeface="Arial MT"/>
              </a:rPr>
              <a:t>Navigation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7236" y="7309908"/>
            <a:ext cx="221996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dirty="0">
                <a:latin typeface="Cambria"/>
                <a:cs typeface="Cambria"/>
              </a:rPr>
              <a:t>3.</a:t>
            </a:r>
            <a:r>
              <a:rPr sz="2300" spc="-15" dirty="0">
                <a:latin typeface="Cambria"/>
                <a:cs typeface="Cambria"/>
              </a:rPr>
              <a:t> </a:t>
            </a:r>
            <a:r>
              <a:rPr sz="2300" spc="-60" dirty="0">
                <a:latin typeface="Cambria"/>
                <a:cs typeface="Cambria"/>
              </a:rPr>
              <a:t>Interactive</a:t>
            </a:r>
            <a:r>
              <a:rPr sz="2300" dirty="0">
                <a:latin typeface="Cambria"/>
                <a:cs typeface="Cambria"/>
              </a:rPr>
              <a:t> </a:t>
            </a:r>
            <a:r>
              <a:rPr sz="2300" spc="-20" dirty="0">
                <a:latin typeface="Cambria"/>
                <a:cs typeface="Cambria"/>
              </a:rPr>
              <a:t>Quiz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84647" y="4678538"/>
            <a:ext cx="2470785" cy="9842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4010"/>
              </a:lnSpc>
              <a:spcBef>
                <a:spcPts val="110"/>
              </a:spcBef>
            </a:pPr>
            <a:r>
              <a:rPr sz="3600" spc="-110" dirty="0">
                <a:solidFill>
                  <a:srgbClr val="0A544D"/>
                </a:solidFill>
                <a:latin typeface="Cambria"/>
                <a:cs typeface="Cambria"/>
              </a:rPr>
              <a:t>sANRAxsxAN</a:t>
            </a:r>
            <a:endParaRPr sz="3600">
              <a:latin typeface="Cambria"/>
              <a:cs typeface="Cambria"/>
            </a:endParaRPr>
          </a:p>
          <a:p>
            <a:pPr algn="ctr">
              <a:lnSpc>
                <a:spcPts val="3529"/>
              </a:lnSpc>
            </a:pPr>
            <a:r>
              <a:rPr sz="3200" spc="-10" dirty="0">
                <a:solidFill>
                  <a:srgbClr val="0C544B"/>
                </a:solidFill>
                <a:latin typeface="Cambria"/>
                <a:cs typeface="Cambria"/>
              </a:rPr>
              <a:t>Platform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60968" y="3969808"/>
            <a:ext cx="1905000" cy="6921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97205" marR="5080" indent="-485140">
              <a:lnSpc>
                <a:spcPts val="2500"/>
              </a:lnSpc>
              <a:spcBef>
                <a:spcPts val="390"/>
              </a:spcBef>
            </a:pPr>
            <a:r>
              <a:rPr sz="2300" dirty="0">
                <a:latin typeface="Cambria"/>
                <a:cs typeface="Cambria"/>
              </a:rPr>
              <a:t>2.</a:t>
            </a:r>
            <a:r>
              <a:rPr sz="2300" spc="-45" dirty="0">
                <a:latin typeface="Cambria"/>
                <a:cs typeface="Cambria"/>
              </a:rPr>
              <a:t> </a:t>
            </a:r>
            <a:r>
              <a:rPr sz="2300" spc="75" dirty="0">
                <a:latin typeface="Cambria"/>
                <a:cs typeface="Cambria"/>
              </a:rPr>
              <a:t>Case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Studies Section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05464" y="7283450"/>
            <a:ext cx="18192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70" dirty="0">
                <a:latin typeface="Cambria"/>
                <a:cs typeface="Cambria"/>
              </a:rPr>
              <a:t>4.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SOS</a:t>
            </a:r>
            <a:r>
              <a:rPr sz="2500" spc="15" dirty="0">
                <a:latin typeface="Cambria"/>
                <a:cs typeface="Cambria"/>
              </a:rPr>
              <a:t> </a:t>
            </a:r>
            <a:r>
              <a:rPr sz="2500" spc="-150" dirty="0">
                <a:latin typeface="Cambria"/>
                <a:cs typeface="Cambria"/>
              </a:rPr>
              <a:t>Feature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0110" y="8447969"/>
            <a:ext cx="9700260" cy="7391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10845" marR="5080" indent="-398780">
              <a:lnSpc>
                <a:spcPts val="2700"/>
              </a:lnSpc>
              <a:spcBef>
                <a:spcPts val="370"/>
              </a:spcBef>
            </a:pPr>
            <a:r>
              <a:rPr sz="2400" spc="-20" dirty="0">
                <a:latin typeface="Arial MT"/>
                <a:cs typeface="Arial MT"/>
              </a:rPr>
              <a:t>Integrating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critical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modules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single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accessible </a:t>
            </a:r>
            <a:r>
              <a:rPr sz="2400" spc="-10" dirty="0">
                <a:latin typeface="Arial MT"/>
                <a:cs typeface="Arial MT"/>
              </a:rPr>
              <a:t>interface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create </a:t>
            </a:r>
            <a:r>
              <a:rPr sz="2400" spc="-70" dirty="0">
                <a:latin typeface="Arial MT"/>
                <a:cs typeface="Arial MT"/>
              </a:rPr>
              <a:t>awareness,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enhance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readiness,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guide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individuals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through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chaos.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1900" y="2578100"/>
            <a:ext cx="7632700" cy="5410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0A6269"/>
                </a:solidFill>
              </a:rPr>
              <a:t>Navigating</a:t>
            </a:r>
            <a:r>
              <a:rPr sz="5000" spc="345" dirty="0">
                <a:solidFill>
                  <a:srgbClr val="0A6269"/>
                </a:solidFill>
              </a:rPr>
              <a:t> </a:t>
            </a:r>
            <a:r>
              <a:rPr sz="5000" spc="-20" dirty="0">
                <a:solidFill>
                  <a:srgbClr val="0E6B74"/>
                </a:solidFill>
              </a:rPr>
              <a:t>the</a:t>
            </a:r>
            <a:r>
              <a:rPr sz="5000" spc="-180" dirty="0">
                <a:solidFill>
                  <a:srgbClr val="0E6B74"/>
                </a:solidFill>
              </a:rPr>
              <a:t> </a:t>
            </a:r>
            <a:r>
              <a:rPr sz="5000" dirty="0">
                <a:solidFill>
                  <a:srgbClr val="0C6467"/>
                </a:solidFill>
              </a:rPr>
              <a:t>Chaos:</a:t>
            </a:r>
            <a:r>
              <a:rPr sz="5000" spc="-135" dirty="0">
                <a:solidFill>
                  <a:srgbClr val="0C6467"/>
                </a:solidFill>
              </a:rPr>
              <a:t> </a:t>
            </a:r>
            <a:r>
              <a:rPr sz="5000" dirty="0">
                <a:solidFill>
                  <a:srgbClr val="075E62"/>
                </a:solidFill>
              </a:rPr>
              <a:t>Emergency</a:t>
            </a:r>
            <a:r>
              <a:rPr sz="5000" spc="70" dirty="0">
                <a:solidFill>
                  <a:srgbClr val="075E62"/>
                </a:solidFill>
              </a:rPr>
              <a:t> </a:t>
            </a:r>
            <a:r>
              <a:rPr sz="5000" dirty="0">
                <a:solidFill>
                  <a:srgbClr val="035D62"/>
                </a:solidFill>
              </a:rPr>
              <a:t>Exit</a:t>
            </a:r>
            <a:r>
              <a:rPr sz="5000" spc="5" dirty="0">
                <a:solidFill>
                  <a:srgbClr val="035D62"/>
                </a:solidFill>
              </a:rPr>
              <a:t> </a:t>
            </a:r>
            <a:r>
              <a:rPr sz="5000" dirty="0">
                <a:solidFill>
                  <a:srgbClr val="075D67"/>
                </a:solidFill>
              </a:rPr>
              <a:t>Navigation</a:t>
            </a:r>
            <a:r>
              <a:rPr sz="5000" spc="285" dirty="0">
                <a:solidFill>
                  <a:srgbClr val="075D67"/>
                </a:solidFill>
              </a:rPr>
              <a:t> </a:t>
            </a:r>
            <a:r>
              <a:rPr sz="5000" spc="-10" dirty="0">
                <a:solidFill>
                  <a:srgbClr val="0C6972"/>
                </a:solidFill>
              </a:rPr>
              <a:t>System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960937" y="2770363"/>
            <a:ext cx="7385050" cy="58921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7780" marR="337820" indent="-5080">
              <a:lnSpc>
                <a:spcPts val="3250"/>
              </a:lnSpc>
              <a:spcBef>
                <a:spcPts val="484"/>
              </a:spcBef>
            </a:pPr>
            <a:r>
              <a:rPr sz="2950" spc="-50" dirty="0">
                <a:solidFill>
                  <a:srgbClr val="EB5D11"/>
                </a:solidFill>
                <a:latin typeface="Arial MT"/>
                <a:cs typeface="Arial MT"/>
              </a:rPr>
              <a:t>Psychological</a:t>
            </a:r>
            <a:r>
              <a:rPr sz="2950" spc="-160" dirty="0">
                <a:solidFill>
                  <a:srgbClr val="EB5D11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E4601C"/>
                </a:solidFill>
                <a:latin typeface="Arial MT"/>
                <a:cs typeface="Arial MT"/>
              </a:rPr>
              <a:t>Insight:</a:t>
            </a:r>
            <a:r>
              <a:rPr sz="2950" spc="-195" dirty="0">
                <a:solidFill>
                  <a:srgbClr val="E4601C"/>
                </a:solidFill>
                <a:latin typeface="Arial MT"/>
                <a:cs typeface="Arial MT"/>
              </a:rPr>
              <a:t> </a:t>
            </a:r>
            <a:r>
              <a:rPr sz="2950" spc="-125" dirty="0">
                <a:latin typeface="Arial MT"/>
                <a:cs typeface="Arial MT"/>
              </a:rPr>
              <a:t>In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spc="-105" dirty="0">
                <a:latin typeface="Arial MT"/>
                <a:cs typeface="Arial MT"/>
              </a:rPr>
              <a:t>panic,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spc="-90" dirty="0">
                <a:latin typeface="Arial MT"/>
                <a:cs typeface="Arial MT"/>
              </a:rPr>
              <a:t>people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follow </a:t>
            </a:r>
            <a:r>
              <a:rPr sz="2950" spc="-10" dirty="0">
                <a:latin typeface="Arial MT"/>
                <a:cs typeface="Arial MT"/>
              </a:rPr>
              <a:t>light.</a:t>
            </a:r>
            <a:endParaRPr sz="2950">
              <a:latin typeface="Arial MT"/>
              <a:cs typeface="Arial MT"/>
            </a:endParaRPr>
          </a:p>
          <a:p>
            <a:pPr marL="16510" marR="6350" indent="4445">
              <a:lnSpc>
                <a:spcPct val="96800"/>
              </a:lnSpc>
              <a:spcBef>
                <a:spcPts val="3260"/>
              </a:spcBef>
            </a:pPr>
            <a:r>
              <a:rPr sz="2850" spc="-110" dirty="0">
                <a:solidFill>
                  <a:srgbClr val="E26421"/>
                </a:solidFill>
                <a:latin typeface="Arial MT"/>
                <a:cs typeface="Arial MT"/>
              </a:rPr>
              <a:t>The</a:t>
            </a:r>
            <a:r>
              <a:rPr sz="2850" spc="-120" dirty="0">
                <a:solidFill>
                  <a:srgbClr val="E26421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D86428"/>
                </a:solidFill>
                <a:latin typeface="Arial MT"/>
                <a:cs typeface="Arial MT"/>
              </a:rPr>
              <a:t>Function:</a:t>
            </a:r>
            <a:r>
              <a:rPr sz="2850" spc="-145" dirty="0">
                <a:solidFill>
                  <a:srgbClr val="D86428"/>
                </a:solidFill>
                <a:latin typeface="Arial MT"/>
                <a:cs typeface="Arial MT"/>
              </a:rPr>
              <a:t> </a:t>
            </a:r>
            <a:r>
              <a:rPr sz="2850" spc="-130" dirty="0">
                <a:latin typeface="Arial MT"/>
                <a:cs typeface="Arial MT"/>
              </a:rPr>
              <a:t>Reduces</a:t>
            </a:r>
            <a:r>
              <a:rPr sz="2850" spc="-20" dirty="0">
                <a:latin typeface="Arial MT"/>
                <a:cs typeface="Arial MT"/>
              </a:rPr>
              <a:t> </a:t>
            </a:r>
            <a:r>
              <a:rPr sz="2850" spc="-45" dirty="0">
                <a:latin typeface="Arial MT"/>
                <a:cs typeface="Arial MT"/>
              </a:rPr>
              <a:t>confusion</a:t>
            </a:r>
            <a:r>
              <a:rPr sz="2850" spc="-9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during </a:t>
            </a:r>
            <a:r>
              <a:rPr sz="2750" dirty="0">
                <a:latin typeface="Arial MT"/>
                <a:cs typeface="Arial MT"/>
              </a:rPr>
              <a:t>evacuations</a:t>
            </a:r>
            <a:r>
              <a:rPr sz="2750" spc="1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by</a:t>
            </a:r>
            <a:r>
              <a:rPr sz="2750" spc="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providing</a:t>
            </a:r>
            <a:r>
              <a:rPr sz="2750" spc="10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structured,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accessible </a:t>
            </a:r>
            <a:r>
              <a:rPr sz="2900" spc="-80" dirty="0">
                <a:latin typeface="Arial MT"/>
                <a:cs typeface="Arial MT"/>
              </a:rPr>
              <a:t>navigation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paths.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750">
              <a:latin typeface="Arial MT"/>
              <a:cs typeface="Arial MT"/>
            </a:endParaRPr>
          </a:p>
          <a:p>
            <a:pPr marL="16510" marR="5080" indent="-1905">
              <a:lnSpc>
                <a:spcPct val="97300"/>
              </a:lnSpc>
            </a:pPr>
            <a:r>
              <a:rPr sz="2750" dirty="0">
                <a:solidFill>
                  <a:srgbClr val="EF5D0C"/>
                </a:solidFill>
                <a:latin typeface="Arial MT"/>
                <a:cs typeface="Arial MT"/>
              </a:rPr>
              <a:t>Proof</a:t>
            </a:r>
            <a:r>
              <a:rPr sz="2750" spc="90" dirty="0">
                <a:solidFill>
                  <a:srgbClr val="EF5D0C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DB6221"/>
                </a:solidFill>
                <a:latin typeface="Arial MT"/>
                <a:cs typeface="Arial MT"/>
              </a:rPr>
              <a:t>of</a:t>
            </a:r>
            <a:r>
              <a:rPr sz="2750" spc="-10" dirty="0">
                <a:solidFill>
                  <a:srgbClr val="DB6221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E15D15"/>
                </a:solidFill>
                <a:latin typeface="Arial MT"/>
                <a:cs typeface="Arial MT"/>
              </a:rPr>
              <a:t>Concept:</a:t>
            </a:r>
            <a:r>
              <a:rPr sz="2750" spc="80" dirty="0">
                <a:solidFill>
                  <a:srgbClr val="E15D15"/>
                </a:solidFill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Successfully</a:t>
            </a:r>
            <a:r>
              <a:rPr sz="2750" spc="21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designed</a:t>
            </a:r>
            <a:r>
              <a:rPr sz="2750" spc="12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and </a:t>
            </a:r>
            <a:r>
              <a:rPr sz="2750" dirty="0">
                <a:latin typeface="Arial MT"/>
                <a:cs typeface="Arial MT"/>
              </a:rPr>
              <a:t>implemented</a:t>
            </a:r>
            <a:r>
              <a:rPr sz="2750" spc="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</a:t>
            </a:r>
            <a:r>
              <a:rPr sz="2750" spc="-1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navigation</a:t>
            </a:r>
            <a:r>
              <a:rPr sz="2750" spc="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model</a:t>
            </a:r>
            <a:r>
              <a:rPr sz="2750" spc="-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specifically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for </a:t>
            </a:r>
            <a:r>
              <a:rPr sz="2850" dirty="0">
                <a:latin typeface="Arial MT"/>
                <a:cs typeface="Arial MT"/>
              </a:rPr>
              <a:t>a</a:t>
            </a:r>
            <a:r>
              <a:rPr sz="2850" spc="-155" dirty="0">
                <a:latin typeface="Arial MT"/>
                <a:cs typeface="Arial MT"/>
              </a:rPr>
              <a:t> </a:t>
            </a:r>
            <a:r>
              <a:rPr sz="2850" spc="-55" dirty="0">
                <a:latin typeface="Arial MT"/>
                <a:cs typeface="Arial MT"/>
              </a:rPr>
              <a:t>single-</a:t>
            </a:r>
            <a:r>
              <a:rPr sz="2850" dirty="0">
                <a:latin typeface="Arial MT"/>
                <a:cs typeface="Arial MT"/>
              </a:rPr>
              <a:t>floor</a:t>
            </a:r>
            <a:r>
              <a:rPr sz="2850" spc="45" dirty="0">
                <a:latin typeface="Arial MT"/>
                <a:cs typeface="Arial MT"/>
              </a:rPr>
              <a:t> </a:t>
            </a:r>
            <a:r>
              <a:rPr sz="2850" spc="-45" dirty="0">
                <a:latin typeface="Arial MT"/>
                <a:cs typeface="Arial MT"/>
              </a:rPr>
              <a:t>university</a:t>
            </a:r>
            <a:r>
              <a:rPr sz="2850" spc="20" dirty="0">
                <a:latin typeface="Arial MT"/>
                <a:cs typeface="Arial MT"/>
              </a:rPr>
              <a:t> </a:t>
            </a:r>
            <a:r>
              <a:rPr sz="2850" spc="-35" dirty="0">
                <a:latin typeface="Arial MT"/>
                <a:cs typeface="Arial MT"/>
              </a:rPr>
              <a:t>building,</a:t>
            </a:r>
            <a:r>
              <a:rPr sz="2850" spc="-50" dirty="0">
                <a:latin typeface="Arial MT"/>
                <a:cs typeface="Arial MT"/>
              </a:rPr>
              <a:t> validating</a:t>
            </a:r>
            <a:r>
              <a:rPr sz="2850" spc="15" dirty="0">
                <a:latin typeface="Arial MT"/>
                <a:cs typeface="Arial MT"/>
              </a:rPr>
              <a:t> </a:t>
            </a:r>
            <a:r>
              <a:rPr sz="2850" spc="-25" dirty="0">
                <a:latin typeface="Arial MT"/>
                <a:cs typeface="Arial MT"/>
              </a:rPr>
              <a:t>the </a:t>
            </a:r>
            <a:r>
              <a:rPr sz="2700" dirty="0">
                <a:latin typeface="Arial MT"/>
                <a:cs typeface="Arial MT"/>
              </a:rPr>
              <a:t>core</a:t>
            </a:r>
            <a:r>
              <a:rPr sz="2700" spc="2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technology.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750">
              <a:latin typeface="Arial MT"/>
              <a:cs typeface="Arial MT"/>
            </a:endParaRPr>
          </a:p>
          <a:p>
            <a:pPr marL="12700">
              <a:lnSpc>
                <a:spcPts val="3385"/>
              </a:lnSpc>
            </a:pPr>
            <a:r>
              <a:rPr sz="2850" spc="-10" dirty="0">
                <a:solidFill>
                  <a:srgbClr val="E86015"/>
                </a:solidFill>
                <a:latin typeface="Arial MT"/>
                <a:cs typeface="Arial MT"/>
              </a:rPr>
              <a:t>Future</a:t>
            </a:r>
            <a:r>
              <a:rPr sz="2850" spc="-85" dirty="0">
                <a:solidFill>
                  <a:srgbClr val="E86015"/>
                </a:solidFill>
                <a:latin typeface="Arial MT"/>
                <a:cs typeface="Arial MT"/>
              </a:rPr>
              <a:t> </a:t>
            </a:r>
            <a:r>
              <a:rPr sz="2850" spc="-20" dirty="0">
                <a:solidFill>
                  <a:srgbClr val="ED5E11"/>
                </a:solidFill>
                <a:latin typeface="Arial MT"/>
                <a:cs typeface="Arial MT"/>
              </a:rPr>
              <a:t>Vision:</a:t>
            </a:r>
            <a:r>
              <a:rPr sz="2850" spc="-175" dirty="0">
                <a:solidFill>
                  <a:srgbClr val="ED5E11"/>
                </a:solidFill>
                <a:latin typeface="Arial MT"/>
                <a:cs typeface="Arial MT"/>
              </a:rPr>
              <a:t> </a:t>
            </a:r>
            <a:r>
              <a:rPr sz="2850" spc="-30" dirty="0">
                <a:latin typeface="Arial MT"/>
                <a:cs typeface="Arial MT"/>
              </a:rPr>
              <a:t>Integration</a:t>
            </a:r>
            <a:r>
              <a:rPr sz="2850" spc="-8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of</a:t>
            </a:r>
            <a:r>
              <a:rPr sz="2850" spc="-60" dirty="0">
                <a:latin typeface="Arial MT"/>
                <a:cs typeface="Arial MT"/>
              </a:rPr>
              <a:t> </a:t>
            </a:r>
            <a:r>
              <a:rPr sz="2850" spc="-85" dirty="0">
                <a:latin typeface="Arial MT"/>
                <a:cs typeface="Arial MT"/>
              </a:rPr>
              <a:t>Augmented</a:t>
            </a:r>
            <a:r>
              <a:rPr sz="2850" spc="-35" dirty="0">
                <a:latin typeface="Arial MT"/>
                <a:cs typeface="Arial MT"/>
              </a:rPr>
              <a:t> </a:t>
            </a:r>
            <a:r>
              <a:rPr sz="2850" spc="-30" dirty="0">
                <a:latin typeface="Arial MT"/>
                <a:cs typeface="Arial MT"/>
              </a:rPr>
              <a:t>Reality</a:t>
            </a:r>
            <a:endParaRPr sz="2850">
              <a:latin typeface="Arial MT"/>
              <a:cs typeface="Arial MT"/>
            </a:endParaRPr>
          </a:p>
          <a:p>
            <a:pPr marL="33655">
              <a:lnSpc>
                <a:spcPts val="3265"/>
              </a:lnSpc>
              <a:tabLst>
                <a:tab pos="788035" algn="l"/>
              </a:tabLst>
            </a:pPr>
            <a:r>
              <a:rPr sz="2750" spc="-20" dirty="0">
                <a:latin typeface="Arial MT"/>
                <a:cs typeface="Arial MT"/>
              </a:rPr>
              <a:t>(AR)</a:t>
            </a:r>
            <a:r>
              <a:rPr sz="2750" dirty="0">
                <a:latin typeface="Arial MT"/>
                <a:cs typeface="Arial MT"/>
              </a:rPr>
              <a:t>	for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real-time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indoor</a:t>
            </a:r>
            <a:r>
              <a:rPr sz="2750" spc="16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navigation</a:t>
            </a:r>
            <a:r>
              <a:rPr sz="2750" spc="2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support.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200400"/>
            <a:ext cx="7035800" cy="4445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481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110"/>
              </a:spcBef>
            </a:pPr>
            <a:r>
              <a:rPr sz="6100" dirty="0">
                <a:solidFill>
                  <a:srgbClr val="00544D"/>
                </a:solidFill>
              </a:rPr>
              <a:t>Proactive</a:t>
            </a:r>
            <a:r>
              <a:rPr sz="6100" spc="254" dirty="0">
                <a:solidFill>
                  <a:srgbClr val="00544D"/>
                </a:solidFill>
              </a:rPr>
              <a:t> </a:t>
            </a:r>
            <a:r>
              <a:rPr sz="6100" spc="50" dirty="0">
                <a:solidFill>
                  <a:srgbClr val="016257"/>
                </a:solidFill>
              </a:rPr>
              <a:t>Education:</a:t>
            </a:r>
            <a:r>
              <a:rPr sz="6100" spc="200" dirty="0">
                <a:solidFill>
                  <a:srgbClr val="016257"/>
                </a:solidFill>
              </a:rPr>
              <a:t> </a:t>
            </a:r>
            <a:r>
              <a:rPr sz="6100" spc="80" dirty="0">
                <a:solidFill>
                  <a:srgbClr val="056056"/>
                </a:solidFill>
              </a:rPr>
              <a:t>Learning</a:t>
            </a:r>
            <a:r>
              <a:rPr sz="6100" spc="440" dirty="0">
                <a:solidFill>
                  <a:srgbClr val="056056"/>
                </a:solidFill>
              </a:rPr>
              <a:t> </a:t>
            </a:r>
            <a:r>
              <a:rPr sz="6100" spc="150" dirty="0">
                <a:solidFill>
                  <a:srgbClr val="01564B"/>
                </a:solidFill>
              </a:rPr>
              <a:t>from</a:t>
            </a:r>
            <a:r>
              <a:rPr sz="6100" spc="-15" dirty="0">
                <a:solidFill>
                  <a:srgbClr val="01564B"/>
                </a:solidFill>
              </a:rPr>
              <a:t> </a:t>
            </a:r>
            <a:r>
              <a:rPr sz="6100" spc="50" dirty="0">
                <a:solidFill>
                  <a:srgbClr val="036459"/>
                </a:solidFill>
              </a:rPr>
              <a:t>the</a:t>
            </a:r>
            <a:r>
              <a:rPr sz="6100" spc="-25" dirty="0">
                <a:solidFill>
                  <a:srgbClr val="036459"/>
                </a:solidFill>
              </a:rPr>
              <a:t> </a:t>
            </a:r>
            <a:r>
              <a:rPr sz="6100" spc="30" dirty="0">
                <a:solidFill>
                  <a:srgbClr val="01574F"/>
                </a:solidFill>
              </a:rPr>
              <a:t>Past</a:t>
            </a:r>
            <a:endParaRPr sz="61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17145">
              <a:lnSpc>
                <a:spcPct val="102200"/>
              </a:lnSpc>
              <a:spcBef>
                <a:spcPts val="10"/>
              </a:spcBef>
            </a:pPr>
            <a:r>
              <a:rPr spc="-130" dirty="0"/>
              <a:t>The</a:t>
            </a:r>
            <a:r>
              <a:rPr spc="-95" dirty="0"/>
              <a:t> </a:t>
            </a:r>
            <a:r>
              <a:rPr spc="-55" dirty="0"/>
              <a:t>Shift:</a:t>
            </a:r>
            <a:r>
              <a:rPr spc="-165" dirty="0"/>
              <a:t> </a:t>
            </a:r>
            <a:r>
              <a:rPr spc="-95" dirty="0"/>
              <a:t>Moving</a:t>
            </a:r>
            <a:r>
              <a:rPr spc="-130" dirty="0"/>
              <a:t> </a:t>
            </a:r>
            <a:r>
              <a:rPr spc="-55" dirty="0"/>
              <a:t>beyond</a:t>
            </a:r>
            <a:r>
              <a:rPr spc="-165" dirty="0"/>
              <a:t> </a:t>
            </a:r>
            <a:r>
              <a:rPr spc="-70" dirty="0"/>
              <a:t>news</a:t>
            </a:r>
            <a:r>
              <a:rPr spc="-150" dirty="0"/>
              <a:t> </a:t>
            </a:r>
            <a:r>
              <a:rPr spc="-20" dirty="0"/>
              <a:t>reports</a:t>
            </a:r>
            <a:r>
              <a:rPr spc="-65" dirty="0"/>
              <a:t> </a:t>
            </a:r>
            <a:r>
              <a:rPr spc="-25" dirty="0"/>
              <a:t>to </a:t>
            </a:r>
            <a:r>
              <a:rPr spc="-35" dirty="0"/>
              <a:t>provide</a:t>
            </a:r>
            <a:r>
              <a:rPr spc="-55" dirty="0"/>
              <a:t> </a:t>
            </a:r>
            <a:r>
              <a:rPr spc="-30" dirty="0"/>
              <a:t>structured</a:t>
            </a:r>
            <a:r>
              <a:rPr spc="20" dirty="0"/>
              <a:t> </a:t>
            </a:r>
            <a:r>
              <a:rPr spc="-110" dirty="0"/>
              <a:t>analysis </a:t>
            </a:r>
            <a:r>
              <a:rPr dirty="0"/>
              <a:t>of</a:t>
            </a:r>
            <a:r>
              <a:rPr spc="-120" dirty="0"/>
              <a:t> </a:t>
            </a:r>
            <a:r>
              <a:rPr spc="-65" dirty="0"/>
              <a:t>real-</a:t>
            </a:r>
            <a:r>
              <a:rPr spc="-10" dirty="0"/>
              <a:t>world disasters.</a:t>
            </a: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pc="-10" dirty="0"/>
          </a:p>
          <a:p>
            <a:pPr marL="1968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Analysis</a:t>
            </a:r>
            <a:r>
              <a:rPr spc="70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Structure:</a:t>
            </a:r>
          </a:p>
          <a:p>
            <a:pPr marL="628650" indent="-336550">
              <a:lnSpc>
                <a:spcPct val="100000"/>
              </a:lnSpc>
              <a:spcBef>
                <a:spcPts val="10"/>
              </a:spcBef>
              <a:buChar char="•"/>
              <a:tabLst>
                <a:tab pos="628650" algn="l"/>
              </a:tabLst>
            </a:pPr>
            <a:r>
              <a:rPr sz="3250" spc="90" dirty="0">
                <a:latin typeface="Calibri"/>
                <a:cs typeface="Calibri"/>
              </a:rPr>
              <a:t>Causes</a:t>
            </a:r>
            <a:endParaRPr sz="3250">
              <a:latin typeface="Calibri"/>
              <a:cs typeface="Calibri"/>
            </a:endParaRPr>
          </a:p>
          <a:p>
            <a:pPr marL="615315" indent="-320675">
              <a:lnSpc>
                <a:spcPct val="100000"/>
              </a:lnSpc>
              <a:spcBef>
                <a:spcPts val="200"/>
              </a:spcBef>
              <a:buChar char="•"/>
              <a:tabLst>
                <a:tab pos="615315" algn="l"/>
              </a:tabLst>
            </a:pPr>
            <a:r>
              <a:rPr sz="3050" spc="105" dirty="0">
                <a:latin typeface="Calibri"/>
                <a:cs typeface="Calibri"/>
              </a:rPr>
              <a:t>Mistakes</a:t>
            </a:r>
            <a:r>
              <a:rPr sz="3050" spc="229" dirty="0">
                <a:latin typeface="Calibri"/>
                <a:cs typeface="Calibri"/>
              </a:rPr>
              <a:t> </a:t>
            </a:r>
            <a:r>
              <a:rPr sz="3050" spc="45" dirty="0">
                <a:latin typeface="Calibri"/>
                <a:cs typeface="Calibri"/>
              </a:rPr>
              <a:t>Made</a:t>
            </a:r>
            <a:endParaRPr sz="3050">
              <a:latin typeface="Calibri"/>
              <a:cs typeface="Calibri"/>
            </a:endParaRPr>
          </a:p>
          <a:p>
            <a:pPr marL="614680" indent="-320675">
              <a:lnSpc>
                <a:spcPct val="100000"/>
              </a:lnSpc>
              <a:spcBef>
                <a:spcPts val="190"/>
              </a:spcBef>
              <a:buChar char="•"/>
              <a:tabLst>
                <a:tab pos="614680" algn="l"/>
              </a:tabLst>
            </a:pPr>
            <a:r>
              <a:rPr sz="3100" spc="60" dirty="0">
                <a:latin typeface="Calibri"/>
                <a:cs typeface="Calibri"/>
              </a:rPr>
              <a:t>Preventive</a:t>
            </a:r>
            <a:r>
              <a:rPr sz="3100" spc="295" dirty="0">
                <a:latin typeface="Calibri"/>
                <a:cs typeface="Calibri"/>
              </a:rPr>
              <a:t> </a:t>
            </a:r>
            <a:r>
              <a:rPr sz="3100" spc="45" dirty="0">
                <a:latin typeface="Calibri"/>
                <a:cs typeface="Calibri"/>
              </a:rPr>
              <a:t>Measures</a:t>
            </a:r>
            <a:endParaRPr sz="3100">
              <a:latin typeface="Calibri"/>
              <a:cs typeface="Calibri"/>
            </a:endParaRPr>
          </a:p>
          <a:p>
            <a:pPr marL="613410" indent="-321310">
              <a:lnSpc>
                <a:spcPct val="100000"/>
              </a:lnSpc>
              <a:spcBef>
                <a:spcPts val="30"/>
              </a:spcBef>
              <a:buChar char="•"/>
              <a:tabLst>
                <a:tab pos="613410" algn="l"/>
              </a:tabLst>
            </a:pPr>
            <a:r>
              <a:rPr sz="3250" spc="110" dirty="0">
                <a:latin typeface="Calibri"/>
                <a:cs typeface="Calibri"/>
              </a:rPr>
              <a:t>Lessons</a:t>
            </a:r>
            <a:r>
              <a:rPr sz="3250" spc="19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Learned</a:t>
            </a:r>
            <a:endParaRPr sz="3250">
              <a:latin typeface="Calibri"/>
              <a:cs typeface="Calibri"/>
            </a:endParaRPr>
          </a:p>
          <a:p>
            <a:pPr marL="17145">
              <a:lnSpc>
                <a:spcPts val="3825"/>
              </a:lnSpc>
              <a:spcBef>
                <a:spcPts val="3900"/>
              </a:spcBef>
            </a:pPr>
            <a:r>
              <a:rPr sz="3250" spc="-200" dirty="0"/>
              <a:t>Goal:</a:t>
            </a:r>
            <a:r>
              <a:rPr sz="3250" spc="-90" dirty="0"/>
              <a:t> </a:t>
            </a:r>
            <a:r>
              <a:rPr sz="3250" spc="-135" dirty="0"/>
              <a:t>Improves</a:t>
            </a:r>
            <a:r>
              <a:rPr sz="3250" spc="-90" dirty="0"/>
              <a:t> </a:t>
            </a:r>
            <a:r>
              <a:rPr sz="3250" spc="-75" dirty="0"/>
              <a:t>disaster</a:t>
            </a:r>
            <a:r>
              <a:rPr sz="3250" spc="-95" dirty="0"/>
              <a:t> understanding</a:t>
            </a:r>
            <a:r>
              <a:rPr sz="3250" spc="-5" dirty="0"/>
              <a:t> </a:t>
            </a:r>
            <a:r>
              <a:rPr sz="3250" spc="-25" dirty="0"/>
              <a:t>to</a:t>
            </a:r>
            <a:endParaRPr sz="3250"/>
          </a:p>
          <a:p>
            <a:pPr marL="23495">
              <a:lnSpc>
                <a:spcPts val="4004"/>
              </a:lnSpc>
            </a:pPr>
            <a:r>
              <a:rPr sz="3400" spc="-185" dirty="0"/>
              <a:t>prevent</a:t>
            </a:r>
            <a:r>
              <a:rPr sz="3400" spc="-55" dirty="0"/>
              <a:t> </a:t>
            </a:r>
            <a:r>
              <a:rPr sz="3400" spc="-90" dirty="0"/>
              <a:t>history</a:t>
            </a:r>
            <a:r>
              <a:rPr sz="3400" spc="-75" dirty="0"/>
              <a:t> </a:t>
            </a:r>
            <a:r>
              <a:rPr sz="3400" spc="-195" dirty="0"/>
              <a:t>from</a:t>
            </a:r>
            <a:r>
              <a:rPr sz="3400" spc="-60" dirty="0"/>
              <a:t> </a:t>
            </a:r>
            <a:r>
              <a:rPr sz="3400" spc="-90" dirty="0"/>
              <a:t>repeating.</a:t>
            </a:r>
            <a:endParaRPr sz="3400"/>
          </a:p>
        </p:txBody>
      </p:sp>
      <p:sp>
        <p:nvSpPr>
          <p:cNvPr id="5" name="object 5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G</a:t>
            </a:r>
            <a:r>
              <a:rPr sz="1300" spc="49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500" y="3149600"/>
            <a:ext cx="7670800" cy="5092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0688" y="770819"/>
            <a:ext cx="10658475" cy="1767839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34440" marR="5080" indent="-1222375">
              <a:lnSpc>
                <a:spcPts val="6300"/>
              </a:lnSpc>
              <a:spcBef>
                <a:spcPts val="1240"/>
              </a:spcBef>
            </a:pPr>
            <a:r>
              <a:rPr sz="6150" dirty="0">
                <a:solidFill>
                  <a:srgbClr val="056257"/>
                </a:solidFill>
              </a:rPr>
              <a:t>Gamified</a:t>
            </a:r>
            <a:r>
              <a:rPr sz="6150" spc="110" dirty="0">
                <a:solidFill>
                  <a:srgbClr val="056257"/>
                </a:solidFill>
              </a:rPr>
              <a:t> </a:t>
            </a:r>
            <a:r>
              <a:rPr sz="6150" dirty="0">
                <a:solidFill>
                  <a:srgbClr val="015B4F"/>
                </a:solidFill>
              </a:rPr>
              <a:t>Engagement:</a:t>
            </a:r>
            <a:r>
              <a:rPr sz="6150" spc="495" dirty="0">
                <a:solidFill>
                  <a:srgbClr val="015B4F"/>
                </a:solidFill>
              </a:rPr>
              <a:t> </a:t>
            </a:r>
            <a:r>
              <a:rPr sz="6150" spc="-10" dirty="0">
                <a:solidFill>
                  <a:srgbClr val="015B4F"/>
                </a:solidFill>
              </a:rPr>
              <a:t>Building </a:t>
            </a:r>
            <a:r>
              <a:rPr sz="6150" spc="-25" dirty="0">
                <a:solidFill>
                  <a:srgbClr val="00695B"/>
                </a:solidFill>
              </a:rPr>
              <a:t>Survival</a:t>
            </a:r>
            <a:r>
              <a:rPr sz="6150" spc="-229" dirty="0">
                <a:solidFill>
                  <a:srgbClr val="00695B"/>
                </a:solidFill>
              </a:rPr>
              <a:t> </a:t>
            </a:r>
            <a:r>
              <a:rPr sz="6150" spc="55" dirty="0">
                <a:solidFill>
                  <a:srgbClr val="01544D"/>
                </a:solidFill>
              </a:rPr>
              <a:t>Muscle</a:t>
            </a:r>
            <a:r>
              <a:rPr sz="6150" spc="-250" dirty="0">
                <a:solidFill>
                  <a:srgbClr val="01544D"/>
                </a:solidFill>
              </a:rPr>
              <a:t> </a:t>
            </a:r>
            <a:r>
              <a:rPr sz="6150" spc="-10" dirty="0">
                <a:solidFill>
                  <a:srgbClr val="016759"/>
                </a:solidFill>
              </a:rPr>
              <a:t>Memory</a:t>
            </a:r>
            <a:endParaRPr sz="6150"/>
          </a:p>
        </p:txBody>
      </p:sp>
      <p:sp>
        <p:nvSpPr>
          <p:cNvPr id="4" name="object 4"/>
          <p:cNvSpPr txBox="1"/>
          <p:nvPr/>
        </p:nvSpPr>
        <p:spPr>
          <a:xfrm>
            <a:off x="1312848" y="3106913"/>
            <a:ext cx="7265670" cy="514159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35915" marR="408305" indent="-323850">
              <a:lnSpc>
                <a:spcPct val="102400"/>
              </a:lnSpc>
              <a:spcBef>
                <a:spcPts val="50"/>
              </a:spcBef>
              <a:buChar char="•"/>
              <a:tabLst>
                <a:tab pos="335915" algn="l"/>
                <a:tab pos="341630" algn="l"/>
              </a:tabLst>
            </a:pPr>
            <a:r>
              <a:rPr sz="2950" dirty="0">
                <a:solidFill>
                  <a:srgbClr val="0A0A0A"/>
                </a:solidFill>
                <a:latin typeface="Arial MT"/>
                <a:cs typeface="Arial MT"/>
              </a:rPr>
              <a:t>	</a:t>
            </a:r>
            <a:r>
              <a:rPr sz="2950" dirty="0">
                <a:solidFill>
                  <a:srgbClr val="135E52"/>
                </a:solidFill>
                <a:latin typeface="Arial MT"/>
                <a:cs typeface="Arial MT"/>
              </a:rPr>
              <a:t>Target</a:t>
            </a:r>
            <a:r>
              <a:rPr sz="2950" spc="60" dirty="0">
                <a:solidFill>
                  <a:srgbClr val="135E52"/>
                </a:solidFill>
                <a:latin typeface="Arial MT"/>
                <a:cs typeface="Arial MT"/>
              </a:rPr>
              <a:t> </a:t>
            </a:r>
            <a:r>
              <a:rPr sz="2950" spc="50" dirty="0">
                <a:solidFill>
                  <a:srgbClr val="055B50"/>
                </a:solidFill>
                <a:latin typeface="Arial MT"/>
                <a:cs typeface="Arial MT"/>
              </a:rPr>
              <a:t>Audience:</a:t>
            </a:r>
            <a:r>
              <a:rPr sz="2950" spc="75" dirty="0">
                <a:solidFill>
                  <a:srgbClr val="055B50"/>
                </a:solidFill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Tailored</a:t>
            </a:r>
            <a:r>
              <a:rPr sz="2950" spc="12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experiences </a:t>
            </a:r>
            <a:r>
              <a:rPr sz="2950" dirty="0">
                <a:latin typeface="Arial MT"/>
                <a:cs typeface="Arial MT"/>
              </a:rPr>
              <a:t>for</a:t>
            </a:r>
            <a:r>
              <a:rPr sz="2950" spc="155" dirty="0">
                <a:latin typeface="Arial MT"/>
                <a:cs typeface="Arial MT"/>
              </a:rPr>
              <a:t> </a:t>
            </a:r>
            <a:r>
              <a:rPr sz="2950" spc="55" dirty="0">
                <a:latin typeface="Arial MT"/>
                <a:cs typeface="Arial MT"/>
              </a:rPr>
              <a:t>two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distinct</a:t>
            </a:r>
            <a:r>
              <a:rPr sz="2950" spc="2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groups: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General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Public </a:t>
            </a:r>
            <a:r>
              <a:rPr sz="3100" spc="-50" dirty="0">
                <a:latin typeface="Arial MT"/>
                <a:cs typeface="Arial MT"/>
              </a:rPr>
              <a:t>and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105" dirty="0">
                <a:latin typeface="Arial MT"/>
                <a:cs typeface="Arial MT"/>
              </a:rPr>
              <a:t>School-</a:t>
            </a:r>
            <a:r>
              <a:rPr sz="3100" spc="-10" dirty="0">
                <a:latin typeface="Arial MT"/>
                <a:cs typeface="Arial MT"/>
              </a:rPr>
              <a:t>level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Children.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950">
              <a:latin typeface="Arial MT"/>
              <a:cs typeface="Arial MT"/>
            </a:endParaRPr>
          </a:p>
          <a:p>
            <a:pPr marL="334645" marR="810260" indent="-322580">
              <a:lnSpc>
                <a:spcPct val="99700"/>
              </a:lnSpc>
              <a:spcBef>
                <a:spcPts val="5"/>
              </a:spcBef>
              <a:buClr>
                <a:srgbClr val="0A0A0A"/>
              </a:buClr>
              <a:buChar char="•"/>
              <a:tabLst>
                <a:tab pos="337820" algn="l"/>
              </a:tabLst>
            </a:pPr>
            <a:r>
              <a:rPr sz="3050" dirty="0">
                <a:solidFill>
                  <a:srgbClr val="036056"/>
                </a:solidFill>
                <a:latin typeface="Arial MT"/>
                <a:cs typeface="Arial MT"/>
              </a:rPr>
              <a:t>Mechanism:</a:t>
            </a:r>
            <a:r>
              <a:rPr sz="3050" spc="-160" dirty="0">
                <a:solidFill>
                  <a:srgbClr val="036056"/>
                </a:solidFill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Ramification</a:t>
            </a:r>
            <a:r>
              <a:rPr sz="3050" spc="16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ensures 	</a:t>
            </a:r>
            <a:r>
              <a:rPr sz="3050" dirty="0">
                <a:latin typeface="Arial MT"/>
                <a:cs typeface="Arial MT"/>
              </a:rPr>
              <a:t>retention</a:t>
            </a:r>
            <a:r>
              <a:rPr sz="3050" spc="-130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and</a:t>
            </a:r>
            <a:r>
              <a:rPr sz="3050" spc="-165" dirty="0">
                <a:latin typeface="Arial MT"/>
                <a:cs typeface="Arial MT"/>
              </a:rPr>
              <a:t> </a:t>
            </a:r>
            <a:r>
              <a:rPr sz="3050" spc="-45" dirty="0">
                <a:latin typeface="Arial MT"/>
                <a:cs typeface="Arial MT"/>
              </a:rPr>
              <a:t>enhances</a:t>
            </a:r>
            <a:r>
              <a:rPr sz="3050" spc="-100" dirty="0">
                <a:latin typeface="Arial MT"/>
                <a:cs typeface="Arial MT"/>
              </a:rPr>
              <a:t> </a:t>
            </a:r>
            <a:r>
              <a:rPr sz="3050" spc="-90" dirty="0">
                <a:latin typeface="Arial MT"/>
                <a:cs typeface="Arial MT"/>
              </a:rPr>
              <a:t>engagement 	</a:t>
            </a:r>
            <a:r>
              <a:rPr sz="3050" spc="-50" dirty="0">
                <a:latin typeface="Arial MT"/>
                <a:cs typeface="Arial MT"/>
              </a:rPr>
              <a:t>using</a:t>
            </a:r>
            <a:r>
              <a:rPr sz="3050" spc="-16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interactive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scenarios.</a:t>
            </a:r>
            <a:endParaRPr sz="3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3050">
              <a:latin typeface="Arial MT"/>
              <a:cs typeface="Arial MT"/>
            </a:endParaRPr>
          </a:p>
          <a:p>
            <a:pPr marL="331470" marR="5080" indent="-319405">
              <a:lnSpc>
                <a:spcPct val="102800"/>
              </a:lnSpc>
              <a:buClr>
                <a:srgbClr val="000000"/>
              </a:buClr>
              <a:buChar char="•"/>
              <a:tabLst>
                <a:tab pos="344170" algn="l"/>
              </a:tabLst>
            </a:pPr>
            <a:r>
              <a:rPr sz="3050" dirty="0">
                <a:solidFill>
                  <a:srgbClr val="0A5B4F"/>
                </a:solidFill>
                <a:latin typeface="Arial MT"/>
                <a:cs typeface="Arial MT"/>
              </a:rPr>
              <a:t>Objective:</a:t>
            </a:r>
            <a:r>
              <a:rPr sz="3050" spc="-90" dirty="0">
                <a:solidFill>
                  <a:srgbClr val="0A5B4F"/>
                </a:solidFill>
                <a:latin typeface="Arial MT"/>
                <a:cs typeface="Arial MT"/>
              </a:rPr>
              <a:t> </a:t>
            </a:r>
            <a:r>
              <a:rPr sz="3050" spc="-80" dirty="0">
                <a:latin typeface="Arial MT"/>
                <a:cs typeface="Arial MT"/>
              </a:rPr>
              <a:t>Focuses</a:t>
            </a:r>
            <a:r>
              <a:rPr sz="3050" spc="5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on</a:t>
            </a:r>
            <a:r>
              <a:rPr sz="3050" spc="-7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practicing</a:t>
            </a:r>
            <a:r>
              <a:rPr sz="3050" spc="105" dirty="0">
                <a:latin typeface="Arial MT"/>
                <a:cs typeface="Arial MT"/>
              </a:rPr>
              <a:t> </a:t>
            </a:r>
            <a:r>
              <a:rPr sz="3050" spc="-45" dirty="0">
                <a:latin typeface="Arial MT"/>
                <a:cs typeface="Arial MT"/>
              </a:rPr>
              <a:t>survival 	</a:t>
            </a:r>
            <a:r>
              <a:rPr sz="2950" dirty="0">
                <a:latin typeface="Arial MT"/>
                <a:cs typeface="Arial MT"/>
              </a:rPr>
              <a:t>techniques</a:t>
            </a:r>
            <a:r>
              <a:rPr sz="2950" spc="1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rather</a:t>
            </a:r>
            <a:r>
              <a:rPr sz="2950" spc="2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than</a:t>
            </a:r>
            <a:r>
              <a:rPr sz="2950" spc="1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just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memorizing 	them.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4400" y="7645400"/>
            <a:ext cx="3695700" cy="5207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795000" y="2260600"/>
            <a:ext cx="5613400" cy="4800600"/>
            <a:chOff x="10795000" y="2260600"/>
            <a:chExt cx="5613400" cy="4800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5000" y="3479800"/>
              <a:ext cx="3835400" cy="358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17500" y="2260600"/>
              <a:ext cx="3390900" cy="12954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200" dirty="0">
                <a:solidFill>
                  <a:srgbClr val="056056"/>
                </a:solidFill>
              </a:rPr>
              <a:t>Real-Time</a:t>
            </a:r>
            <a:r>
              <a:rPr sz="7200" spc="320" dirty="0">
                <a:solidFill>
                  <a:srgbClr val="056056"/>
                </a:solidFill>
              </a:rPr>
              <a:t> </a:t>
            </a:r>
            <a:r>
              <a:rPr sz="7200" dirty="0">
                <a:solidFill>
                  <a:srgbClr val="015652"/>
                </a:solidFill>
              </a:rPr>
              <a:t>Lifeline</a:t>
            </a:r>
            <a:r>
              <a:rPr sz="7200" spc="-80" dirty="0">
                <a:solidFill>
                  <a:srgbClr val="015652"/>
                </a:solidFill>
              </a:rPr>
              <a:t> </a:t>
            </a:r>
            <a:r>
              <a:rPr sz="7200" spc="-40" dirty="0">
                <a:solidFill>
                  <a:srgbClr val="015B52"/>
                </a:solidFill>
              </a:rPr>
              <a:t>Connectivity</a:t>
            </a:r>
            <a:endParaRPr sz="7200"/>
          </a:p>
        </p:txBody>
      </p:sp>
      <p:sp>
        <p:nvSpPr>
          <p:cNvPr id="8" name="object 8"/>
          <p:cNvSpPr txBox="1"/>
          <p:nvPr/>
        </p:nvSpPr>
        <p:spPr>
          <a:xfrm>
            <a:off x="968017" y="2538941"/>
            <a:ext cx="11838940" cy="5047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200" dirty="0">
                <a:solidFill>
                  <a:srgbClr val="085B52"/>
                </a:solidFill>
                <a:latin typeface="Arial MT"/>
                <a:cs typeface="Arial MT"/>
              </a:rPr>
              <a:t>SOS</a:t>
            </a:r>
            <a:r>
              <a:rPr sz="3950" spc="-35" dirty="0">
                <a:solidFill>
                  <a:srgbClr val="085B52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075D54"/>
                </a:solidFill>
                <a:latin typeface="Arial MT"/>
                <a:cs typeface="Arial MT"/>
              </a:rPr>
              <a:t>Feature</a:t>
            </a:r>
            <a:r>
              <a:rPr sz="3950" spc="170" dirty="0">
                <a:solidFill>
                  <a:srgbClr val="075D54"/>
                </a:solidFill>
                <a:latin typeface="Arial MT"/>
                <a:cs typeface="Arial MT"/>
              </a:rPr>
              <a:t> </a:t>
            </a:r>
            <a:r>
              <a:rPr sz="3950" spc="75" dirty="0">
                <a:solidFill>
                  <a:srgbClr val="055B50"/>
                </a:solidFill>
                <a:latin typeface="Arial MT"/>
                <a:cs typeface="Arial MT"/>
              </a:rPr>
              <a:t>(In</a:t>
            </a:r>
            <a:r>
              <a:rPr sz="3950" spc="-145" dirty="0">
                <a:solidFill>
                  <a:srgbClr val="055B50"/>
                </a:solidFill>
                <a:latin typeface="Arial MT"/>
                <a:cs typeface="Arial MT"/>
              </a:rPr>
              <a:t> </a:t>
            </a:r>
            <a:r>
              <a:rPr sz="3950" spc="45" dirty="0">
                <a:solidFill>
                  <a:srgbClr val="07564F"/>
                </a:solidFill>
                <a:latin typeface="Arial MT"/>
                <a:cs typeface="Arial MT"/>
              </a:rPr>
              <a:t>Development)</a:t>
            </a:r>
            <a:endParaRPr sz="3950">
              <a:latin typeface="Arial MT"/>
              <a:cs typeface="Arial MT"/>
            </a:endParaRPr>
          </a:p>
          <a:p>
            <a:pPr marL="602615" marR="5296535" indent="-307340">
              <a:lnSpc>
                <a:spcPct val="109100"/>
              </a:lnSpc>
              <a:spcBef>
                <a:spcPts val="2460"/>
              </a:spcBef>
              <a:buChar char="•"/>
              <a:tabLst>
                <a:tab pos="605155" algn="l"/>
              </a:tabLst>
            </a:pPr>
            <a:r>
              <a:rPr sz="2750" spc="80" dirty="0">
                <a:latin typeface="Arial MT"/>
                <a:cs typeface="Arial MT"/>
              </a:rPr>
              <a:t>Function:</a:t>
            </a:r>
            <a:r>
              <a:rPr sz="2750" spc="-6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Enables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rapid</a:t>
            </a:r>
            <a:r>
              <a:rPr sz="2750" spc="114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emergency 	</a:t>
            </a:r>
            <a:r>
              <a:rPr sz="2750" dirty="0">
                <a:latin typeface="Arial MT"/>
                <a:cs typeface="Arial MT"/>
              </a:rPr>
              <a:t>communication</a:t>
            </a:r>
            <a:r>
              <a:rPr sz="2750" spc="49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when</a:t>
            </a:r>
            <a:r>
              <a:rPr sz="2750" spc="3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seconds</a:t>
            </a:r>
            <a:r>
              <a:rPr sz="2750" spc="39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count.</a:t>
            </a:r>
            <a:endParaRPr sz="2750">
              <a:latin typeface="Arial MT"/>
              <a:cs typeface="Arial MT"/>
            </a:endParaRPr>
          </a:p>
          <a:p>
            <a:pPr marL="605790" marR="4879340" indent="-311150">
              <a:lnSpc>
                <a:spcPct val="103400"/>
              </a:lnSpc>
              <a:spcBef>
                <a:spcPts val="35"/>
              </a:spcBef>
              <a:buChar char="•"/>
              <a:tabLst>
                <a:tab pos="605790" algn="l"/>
                <a:tab pos="610235" algn="l"/>
              </a:tabLst>
            </a:pPr>
            <a:r>
              <a:rPr sz="2900" dirty="0">
                <a:latin typeface="Arial MT"/>
                <a:cs typeface="Arial MT"/>
              </a:rPr>
              <a:t>	</a:t>
            </a:r>
            <a:r>
              <a:rPr sz="2900" spc="-20" dirty="0">
                <a:latin typeface="Arial MT"/>
                <a:cs typeface="Arial MT"/>
              </a:rPr>
              <a:t>The</a:t>
            </a:r>
            <a:r>
              <a:rPr sz="2900" spc="-1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Transformation:</a:t>
            </a:r>
            <a:r>
              <a:rPr sz="2900" spc="-285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Completes</a:t>
            </a:r>
            <a:r>
              <a:rPr sz="2900" spc="21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the </a:t>
            </a:r>
            <a:r>
              <a:rPr sz="2900" spc="-30" dirty="0">
                <a:latin typeface="Arial MT"/>
                <a:cs typeface="Arial MT"/>
              </a:rPr>
              <a:t>ecosystem</a:t>
            </a:r>
            <a:r>
              <a:rPr sz="2900" spc="-1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by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providing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a</a:t>
            </a:r>
            <a:r>
              <a:rPr sz="2900" spc="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direct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link</a:t>
            </a:r>
            <a:r>
              <a:rPr sz="2900" spc="-13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to </a:t>
            </a:r>
            <a:r>
              <a:rPr sz="2850" spc="-30" dirty="0">
                <a:latin typeface="Arial MT"/>
                <a:cs typeface="Arial MT"/>
              </a:rPr>
              <a:t>assistance,</a:t>
            </a:r>
            <a:r>
              <a:rPr sz="2850" spc="8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transforming</a:t>
            </a:r>
            <a:r>
              <a:rPr sz="2850" spc="14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the</a:t>
            </a:r>
            <a:r>
              <a:rPr sz="2850" spc="-19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app</a:t>
            </a:r>
            <a:r>
              <a:rPr sz="2850" spc="-7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from</a:t>
            </a:r>
            <a:r>
              <a:rPr sz="2850" spc="-25" dirty="0">
                <a:latin typeface="Arial MT"/>
                <a:cs typeface="Arial MT"/>
              </a:rPr>
              <a:t> </a:t>
            </a:r>
            <a:r>
              <a:rPr sz="2850" spc="-50" dirty="0">
                <a:latin typeface="Arial MT"/>
                <a:cs typeface="Arial MT"/>
              </a:rPr>
              <a:t>a</a:t>
            </a:r>
            <a:endParaRPr sz="2850">
              <a:latin typeface="Arial MT"/>
              <a:cs typeface="Arial MT"/>
            </a:endParaRPr>
          </a:p>
          <a:p>
            <a:pPr marL="608965" marR="5862955" indent="-635">
              <a:lnSpc>
                <a:spcPts val="3600"/>
              </a:lnSpc>
              <a:spcBef>
                <a:spcPts val="100"/>
              </a:spcBef>
            </a:pPr>
            <a:r>
              <a:rPr sz="2750" dirty="0">
                <a:latin typeface="Arial MT"/>
                <a:cs typeface="Arial MT"/>
              </a:rPr>
              <a:t>passive</a:t>
            </a:r>
            <a:r>
              <a:rPr sz="2750" spc="2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guide</a:t>
            </a:r>
            <a:r>
              <a:rPr sz="2750" spc="110" dirty="0">
                <a:latin typeface="Arial MT"/>
                <a:cs typeface="Arial MT"/>
              </a:rPr>
              <a:t> to</a:t>
            </a:r>
            <a:r>
              <a:rPr sz="2750" spc="8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an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active</a:t>
            </a:r>
            <a:r>
              <a:rPr sz="2750" spc="114" dirty="0">
                <a:latin typeface="Arial MT"/>
                <a:cs typeface="Arial MT"/>
              </a:rPr>
              <a:t> </a:t>
            </a:r>
            <a:r>
              <a:rPr sz="2750" spc="80" dirty="0">
                <a:latin typeface="Arial MT"/>
                <a:cs typeface="Arial MT"/>
              </a:rPr>
              <a:t>tool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for </a:t>
            </a:r>
            <a:r>
              <a:rPr sz="2750" spc="-10" dirty="0">
                <a:latin typeface="Arial MT"/>
                <a:cs typeface="Arial MT"/>
              </a:rPr>
              <a:t>rescue.</a:t>
            </a:r>
            <a:endParaRPr sz="2750">
              <a:latin typeface="Arial MT"/>
              <a:cs typeface="Arial MT"/>
            </a:endParaRPr>
          </a:p>
          <a:p>
            <a:pPr marL="601345" indent="-306705">
              <a:lnSpc>
                <a:spcPts val="3460"/>
              </a:lnSpc>
              <a:buChar char="•"/>
              <a:tabLst>
                <a:tab pos="601345" algn="l"/>
              </a:tabLst>
            </a:pPr>
            <a:r>
              <a:rPr sz="2900" spc="-25" dirty="0">
                <a:latin typeface="Arial MT"/>
                <a:cs typeface="Arial MT"/>
              </a:rPr>
              <a:t>Future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Integration:</a:t>
            </a:r>
            <a:r>
              <a:rPr sz="2900" spc="30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Designed</a:t>
            </a:r>
            <a:r>
              <a:rPr sz="2900" spc="2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live</a:t>
            </a:r>
            <a:endParaRPr sz="2900">
              <a:latin typeface="Arial MT"/>
              <a:cs typeface="Arial MT"/>
            </a:endParaRPr>
          </a:p>
          <a:p>
            <a:pPr marL="604520">
              <a:lnSpc>
                <a:spcPct val="100000"/>
              </a:lnSpc>
              <a:spcBef>
                <a:spcPts val="120"/>
              </a:spcBef>
              <a:tabLst>
                <a:tab pos="11706225" algn="l"/>
              </a:tabLst>
            </a:pPr>
            <a:r>
              <a:rPr sz="2900" spc="-20" dirty="0">
                <a:latin typeface="Arial MT"/>
                <a:cs typeface="Arial MT"/>
              </a:rPr>
              <a:t>collaboration</a:t>
            </a:r>
            <a:r>
              <a:rPr sz="2900" spc="1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with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response </a:t>
            </a:r>
            <a:r>
              <a:rPr sz="2900" spc="-10" dirty="0">
                <a:latin typeface="Arial MT"/>
                <a:cs typeface="Arial MT"/>
              </a:rPr>
              <a:t>authorities.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50" dirty="0">
                <a:solidFill>
                  <a:srgbClr val="FF774D"/>
                </a:solidFill>
                <a:latin typeface="Arial MT"/>
                <a:cs typeface="Arial MT"/>
              </a:rPr>
              <a:t>”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300" y="3949700"/>
            <a:ext cx="2527300" cy="1625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0" y="3721100"/>
            <a:ext cx="1790700" cy="214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3400" y="3784600"/>
            <a:ext cx="2540000" cy="1955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33400" y="3619500"/>
            <a:ext cx="2717800" cy="2425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110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14"/>
              </a:spcBef>
            </a:pPr>
            <a:r>
              <a:rPr spc="-60" dirty="0"/>
              <a:t>Technological</a:t>
            </a:r>
            <a:r>
              <a:rPr spc="-310" dirty="0"/>
              <a:t> </a:t>
            </a:r>
            <a:r>
              <a:rPr spc="-75" dirty="0">
                <a:solidFill>
                  <a:srgbClr val="055954"/>
                </a:solidFill>
              </a:rPr>
              <a:t>Resilience</a:t>
            </a:r>
            <a:r>
              <a:rPr spc="-190" dirty="0">
                <a:solidFill>
                  <a:srgbClr val="055954"/>
                </a:solidFill>
              </a:rPr>
              <a:t> </a:t>
            </a:r>
            <a:r>
              <a:rPr spc="-155" dirty="0">
                <a:solidFill>
                  <a:srgbClr val="085654"/>
                </a:solidFill>
              </a:rPr>
              <a:t>and</a:t>
            </a:r>
            <a:r>
              <a:rPr spc="-340" dirty="0">
                <a:solidFill>
                  <a:srgbClr val="085654"/>
                </a:solidFill>
              </a:rPr>
              <a:t> </a:t>
            </a:r>
            <a:r>
              <a:rPr spc="-90" dirty="0">
                <a:solidFill>
                  <a:srgbClr val="055652"/>
                </a:solidFill>
              </a:rPr>
              <a:t>Evolution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97152" y="2644422"/>
            <a:ext cx="103886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solidFill>
                  <a:srgbClr val="0F4948"/>
                </a:solidFill>
                <a:latin typeface="Arial MT"/>
                <a:cs typeface="Arial MT"/>
              </a:rPr>
              <a:t>Step</a:t>
            </a:r>
            <a:r>
              <a:rPr sz="2750" spc="-114" dirty="0">
                <a:solidFill>
                  <a:srgbClr val="0F4948"/>
                </a:solidFill>
                <a:latin typeface="Arial MT"/>
                <a:cs typeface="Arial MT"/>
              </a:rPr>
              <a:t> </a:t>
            </a:r>
            <a:r>
              <a:rPr sz="2750" spc="70" dirty="0">
                <a:solidFill>
                  <a:srgbClr val="0C4D48"/>
                </a:solidFill>
                <a:latin typeface="Arial MT"/>
                <a:cs typeface="Arial MT"/>
              </a:rPr>
              <a:t>1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3249" y="6766277"/>
            <a:ext cx="2874645" cy="169481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3810" algn="ctr">
              <a:lnSpc>
                <a:spcPct val="96000"/>
              </a:lnSpc>
              <a:spcBef>
                <a:spcPts val="225"/>
              </a:spcBef>
              <a:tabLst>
                <a:tab pos="389890" algn="l"/>
                <a:tab pos="1456690" algn="l"/>
              </a:tabLst>
            </a:pPr>
            <a:r>
              <a:rPr sz="2200" spc="-50" dirty="0">
                <a:solidFill>
                  <a:srgbClr val="EB754F"/>
                </a:solidFill>
                <a:latin typeface="Arial MT"/>
                <a:cs typeface="Arial MT"/>
              </a:rPr>
              <a:t>I</a:t>
            </a:r>
            <a:r>
              <a:rPr sz="2200" dirty="0">
                <a:solidFill>
                  <a:srgbClr val="EB754F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DF744F"/>
                </a:solidFill>
                <a:latin typeface="Arial MT"/>
                <a:cs typeface="Arial MT"/>
              </a:rPr>
              <a:t>silienc‹</a:t>
            </a:r>
            <a:r>
              <a:rPr sz="2200" dirty="0">
                <a:solidFill>
                  <a:srgbClr val="DF744F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1A1A1A"/>
                </a:solidFill>
                <a:latin typeface="Arial MT"/>
                <a:cs typeface="Arial MT"/>
              </a:rPr>
              <a:t>Mobile</a:t>
            </a:r>
            <a:r>
              <a:rPr sz="2200" spc="-1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1A1A1A"/>
                </a:solidFill>
                <a:latin typeface="Arial MT"/>
                <a:cs typeface="Arial MT"/>
              </a:rPr>
              <a:t>app </a:t>
            </a:r>
            <a:r>
              <a:rPr sz="2300" spc="-75" dirty="0">
                <a:solidFill>
                  <a:srgbClr val="131313"/>
                </a:solidFill>
                <a:latin typeface="Arial MT"/>
                <a:cs typeface="Arial MT"/>
              </a:rPr>
              <a:t>deployment</a:t>
            </a:r>
            <a:r>
              <a:rPr sz="2300" spc="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161616"/>
                </a:solidFill>
                <a:latin typeface="Arial MT"/>
                <a:cs typeface="Arial MT"/>
              </a:rPr>
              <a:t>with</a:t>
            </a:r>
            <a:r>
              <a:rPr sz="2300" spc="-1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161616"/>
                </a:solidFill>
                <a:latin typeface="Arial MT"/>
                <a:cs typeface="Arial MT"/>
              </a:rPr>
              <a:t>offline </a:t>
            </a:r>
            <a:r>
              <a:rPr sz="2150" dirty="0">
                <a:solidFill>
                  <a:srgbClr val="161616"/>
                </a:solidFill>
                <a:latin typeface="Arial MT"/>
                <a:cs typeface="Arial MT"/>
              </a:rPr>
              <a:t>functionality</a:t>
            </a:r>
            <a:r>
              <a:rPr sz="2150" spc="3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151515"/>
                </a:solidFill>
                <a:latin typeface="Arial MT"/>
                <a:cs typeface="Arial MT"/>
              </a:rPr>
              <a:t>ensuring </a:t>
            </a:r>
            <a:r>
              <a:rPr sz="2300" spc="-35" dirty="0">
                <a:solidFill>
                  <a:srgbClr val="161616"/>
                </a:solidFill>
                <a:latin typeface="Arial MT"/>
                <a:cs typeface="Arial MT"/>
              </a:rPr>
              <a:t>reliability</a:t>
            </a:r>
            <a:r>
              <a:rPr sz="2300" spc="-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0C0C0C"/>
                </a:solidFill>
                <a:latin typeface="Arial MT"/>
                <a:cs typeface="Arial MT"/>
              </a:rPr>
              <a:t>without</a:t>
            </a:r>
            <a:r>
              <a:rPr sz="2300" spc="-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111111"/>
                </a:solidFill>
                <a:latin typeface="Arial MT"/>
                <a:cs typeface="Arial MT"/>
              </a:rPr>
              <a:t>grid </a:t>
            </a:r>
            <a:r>
              <a:rPr sz="2350" spc="-10" dirty="0">
                <a:solidFill>
                  <a:srgbClr val="111111"/>
                </a:solidFill>
                <a:latin typeface="Arial MT"/>
                <a:cs typeface="Arial MT"/>
              </a:rPr>
              <a:t>connectivity.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0652" y="2644422"/>
            <a:ext cx="106045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solidFill>
                  <a:srgbClr val="114D4B"/>
                </a:solidFill>
                <a:latin typeface="Arial MT"/>
                <a:cs typeface="Arial MT"/>
              </a:rPr>
              <a:t>Step</a:t>
            </a:r>
            <a:r>
              <a:rPr sz="2750" spc="95" dirty="0">
                <a:solidFill>
                  <a:srgbClr val="114D4B"/>
                </a:solidFill>
                <a:latin typeface="Arial MT"/>
                <a:cs typeface="Arial MT"/>
              </a:rPr>
              <a:t> </a:t>
            </a:r>
            <a:r>
              <a:rPr sz="2750" spc="25" dirty="0">
                <a:solidFill>
                  <a:srgbClr val="0A5654"/>
                </a:solidFill>
                <a:latin typeface="Arial MT"/>
                <a:cs typeface="Arial MT"/>
              </a:rPr>
              <a:t>2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2823" y="6783916"/>
            <a:ext cx="2763520" cy="1675764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-80010" algn="ctr">
              <a:lnSpc>
                <a:spcPct val="96800"/>
              </a:lnSpc>
              <a:spcBef>
                <a:spcPts val="210"/>
              </a:spcBef>
            </a:pPr>
            <a:r>
              <a:rPr sz="2050" spc="114" dirty="0">
                <a:solidFill>
                  <a:srgbClr val="D47756"/>
                </a:solidFill>
                <a:latin typeface="Arial MT"/>
                <a:cs typeface="Arial MT"/>
              </a:rPr>
              <a:t>Infrastructure</a:t>
            </a:r>
            <a:r>
              <a:rPr sz="2050" spc="-120" dirty="0">
                <a:solidFill>
                  <a:srgbClr val="D47756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DD744D"/>
                </a:solidFill>
                <a:latin typeface="Arial MT"/>
                <a:cs typeface="Arial MT"/>
              </a:rPr>
              <a:t>Scaling </a:t>
            </a:r>
            <a:r>
              <a:rPr sz="2300" spc="-105" dirty="0">
                <a:solidFill>
                  <a:srgbClr val="1A1A1A"/>
                </a:solidFill>
                <a:latin typeface="Arial MT"/>
                <a:cs typeface="Arial MT"/>
              </a:rPr>
              <a:t>Advancing</a:t>
            </a:r>
            <a:r>
              <a:rPr sz="23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sz="2300" spc="-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131313"/>
                </a:solidFill>
                <a:latin typeface="Arial MT"/>
                <a:cs typeface="Arial MT"/>
              </a:rPr>
              <a:t>complex </a:t>
            </a:r>
            <a:r>
              <a:rPr sz="2200" dirty="0">
                <a:solidFill>
                  <a:srgbClr val="161616"/>
                </a:solidFill>
                <a:latin typeface="Arial MT"/>
                <a:cs typeface="Arial MT"/>
              </a:rPr>
              <a:t>multi-floor</a:t>
            </a:r>
            <a:r>
              <a:rPr sz="2200" spc="2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181818"/>
                </a:solidFill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  <a:p>
            <a:pPr marL="191770" marR="98425" indent="10795" algn="ctr">
              <a:lnSpc>
                <a:spcPts val="2600"/>
              </a:lnSpc>
              <a:spcBef>
                <a:spcPts val="130"/>
              </a:spcBef>
            </a:pPr>
            <a:r>
              <a:rPr sz="2300" spc="-40" dirty="0">
                <a:solidFill>
                  <a:srgbClr val="0F0F0F"/>
                </a:solidFill>
                <a:latin typeface="Arial MT"/>
                <a:cs typeface="Arial MT"/>
              </a:rPr>
              <a:t>multi-</a:t>
            </a:r>
            <a:r>
              <a:rPr sz="2300" spc="-10" dirty="0">
                <a:solidFill>
                  <a:srgbClr val="0F0F0F"/>
                </a:solidFill>
                <a:latin typeface="Arial MT"/>
                <a:cs typeface="Arial MT"/>
              </a:rPr>
              <a:t>building </a:t>
            </a:r>
            <a:r>
              <a:rPr sz="2300" spc="-85" dirty="0">
                <a:solidFill>
                  <a:srgbClr val="151515"/>
                </a:solidFill>
                <a:latin typeface="Arial MT"/>
                <a:cs typeface="Arial MT"/>
              </a:rPr>
              <a:t>evacuation</a:t>
            </a:r>
            <a:r>
              <a:rPr sz="2300" spc="-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300" spc="-75" dirty="0">
                <a:solidFill>
                  <a:srgbClr val="111111"/>
                </a:solidFill>
                <a:latin typeface="Arial MT"/>
                <a:cs typeface="Arial MT"/>
              </a:rPr>
              <a:t>systems.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9949" y="2659591"/>
            <a:ext cx="103631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0F4844"/>
                </a:solidFill>
                <a:latin typeface="Arial MT"/>
                <a:cs typeface="Arial MT"/>
              </a:rPr>
              <a:t>Step</a:t>
            </a:r>
            <a:r>
              <a:rPr sz="2700" spc="70" dirty="0">
                <a:solidFill>
                  <a:srgbClr val="0F4844"/>
                </a:solidFill>
                <a:latin typeface="Arial MT"/>
                <a:cs typeface="Arial MT"/>
              </a:rPr>
              <a:t> </a:t>
            </a:r>
            <a:r>
              <a:rPr sz="2700" spc="-50" dirty="0">
                <a:solidFill>
                  <a:srgbClr val="134B49"/>
                </a:solidFill>
                <a:latin typeface="Arial MT"/>
                <a:cs typeface="Arial MT"/>
              </a:rPr>
              <a:t>3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18455" y="6777566"/>
            <a:ext cx="2919730" cy="135191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19050" algn="ctr">
              <a:lnSpc>
                <a:spcPct val="97400"/>
              </a:lnSpc>
              <a:spcBef>
                <a:spcPts val="195"/>
              </a:spcBef>
            </a:pPr>
            <a:r>
              <a:rPr sz="2050" spc="50" dirty="0">
                <a:solidFill>
                  <a:srgbClr val="F27B50"/>
                </a:solidFill>
                <a:latin typeface="Arial MT"/>
                <a:cs typeface="Arial MT"/>
              </a:rPr>
              <a:t>Next-</a:t>
            </a:r>
            <a:r>
              <a:rPr sz="2050" spc="70" dirty="0">
                <a:solidFill>
                  <a:srgbClr val="F27B50"/>
                </a:solidFill>
                <a:latin typeface="Arial MT"/>
                <a:cs typeface="Arial MT"/>
              </a:rPr>
              <a:t>Gen</a:t>
            </a:r>
            <a:r>
              <a:rPr sz="2050" dirty="0">
                <a:solidFill>
                  <a:srgbClr val="F27B50"/>
                </a:solidFill>
                <a:latin typeface="Arial MT"/>
                <a:cs typeface="Arial MT"/>
              </a:rPr>
              <a:t> </a:t>
            </a:r>
            <a:r>
              <a:rPr sz="2050" spc="55" dirty="0">
                <a:solidFill>
                  <a:srgbClr val="EB7C59"/>
                </a:solidFill>
                <a:latin typeface="Arial MT"/>
                <a:cs typeface="Arial MT"/>
              </a:rPr>
              <a:t>Navigation: </a:t>
            </a:r>
            <a:r>
              <a:rPr sz="2300" spc="-45" dirty="0">
                <a:solidFill>
                  <a:srgbClr val="131313"/>
                </a:solidFill>
                <a:latin typeface="Arial MT"/>
                <a:cs typeface="Arial MT"/>
              </a:rPr>
              <a:t>Integration</a:t>
            </a:r>
            <a:r>
              <a:rPr sz="2300" spc="-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1C1C1C"/>
                </a:solidFill>
                <a:latin typeface="Arial MT"/>
                <a:cs typeface="Arial MT"/>
              </a:rPr>
              <a:t>of</a:t>
            </a:r>
            <a:r>
              <a:rPr sz="2300" spc="-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300" spc="-145" dirty="0">
                <a:solidFill>
                  <a:srgbClr val="0F0F0F"/>
                </a:solidFill>
                <a:latin typeface="Arial MT"/>
                <a:cs typeface="Arial MT"/>
              </a:rPr>
              <a:t>AR-</a:t>
            </a:r>
            <a:r>
              <a:rPr sz="2300" spc="-85" dirty="0">
                <a:solidFill>
                  <a:srgbClr val="0F0F0F"/>
                </a:solidFill>
                <a:latin typeface="Arial MT"/>
                <a:cs typeface="Arial MT"/>
              </a:rPr>
              <a:t>based </a:t>
            </a:r>
            <a:r>
              <a:rPr sz="2200" spc="-40" dirty="0">
                <a:solidFill>
                  <a:srgbClr val="111111"/>
                </a:solidFill>
                <a:latin typeface="Arial MT"/>
                <a:cs typeface="Arial MT"/>
              </a:rPr>
              <a:t>(Augmented</a:t>
            </a:r>
            <a:r>
              <a:rPr sz="22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11111"/>
                </a:solidFill>
                <a:latin typeface="Arial MT"/>
                <a:cs typeface="Arial MT"/>
              </a:rPr>
              <a:t>Reality) </a:t>
            </a:r>
            <a:r>
              <a:rPr sz="2300" spc="-70" dirty="0">
                <a:solidFill>
                  <a:srgbClr val="131313"/>
                </a:solidFill>
                <a:latin typeface="Arial MT"/>
                <a:cs typeface="Arial MT"/>
              </a:rPr>
              <a:t>indoor</a:t>
            </a:r>
            <a:r>
              <a:rPr sz="2300" spc="-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161616"/>
                </a:solidFill>
                <a:latin typeface="Arial MT"/>
                <a:cs typeface="Arial MT"/>
              </a:rPr>
              <a:t>navigation.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55356" y="2635602"/>
            <a:ext cx="105156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20" dirty="0">
                <a:solidFill>
                  <a:srgbClr val="0E4644"/>
                </a:solidFill>
                <a:latin typeface="Arial MT"/>
                <a:cs typeface="Arial MT"/>
              </a:rPr>
              <a:t>Step</a:t>
            </a:r>
            <a:r>
              <a:rPr sz="2850" spc="-155" dirty="0">
                <a:solidFill>
                  <a:srgbClr val="0E4644"/>
                </a:solidFill>
                <a:latin typeface="Arial MT"/>
                <a:cs typeface="Arial MT"/>
              </a:rPr>
              <a:t> </a:t>
            </a:r>
            <a:r>
              <a:rPr sz="2850" spc="-50" dirty="0">
                <a:solidFill>
                  <a:srgbClr val="075752"/>
                </a:solidFill>
                <a:latin typeface="Arial MT"/>
                <a:cs typeface="Arial MT"/>
              </a:rPr>
              <a:t>4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40638" y="6783916"/>
            <a:ext cx="2678430" cy="167767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065" marR="5080" indent="13970" algn="ctr">
              <a:lnSpc>
                <a:spcPct val="96200"/>
              </a:lnSpc>
              <a:spcBef>
                <a:spcPts val="225"/>
              </a:spcBef>
              <a:tabLst>
                <a:tab pos="1555750" algn="l"/>
              </a:tabLst>
            </a:pPr>
            <a:r>
              <a:rPr sz="2050" spc="80" dirty="0">
                <a:solidFill>
                  <a:srgbClr val="DB7752"/>
                </a:solidFill>
                <a:latin typeface="Arial MT"/>
                <a:cs typeface="Arial MT"/>
              </a:rPr>
              <a:t>Integration</a:t>
            </a:r>
            <a:r>
              <a:rPr sz="2050" dirty="0">
                <a:solidFill>
                  <a:srgbClr val="DB7752"/>
                </a:solidFill>
                <a:latin typeface="Arial MT"/>
                <a:cs typeface="Arial MT"/>
              </a:rPr>
              <a:t>	</a:t>
            </a:r>
            <a:r>
              <a:rPr sz="2050" spc="-20" dirty="0">
                <a:solidFill>
                  <a:srgbClr val="161616"/>
                </a:solidFill>
                <a:latin typeface="Arial MT"/>
                <a:cs typeface="Arial MT"/>
              </a:rPr>
              <a:t>Live </a:t>
            </a:r>
            <a:r>
              <a:rPr sz="2300" spc="-100" dirty="0">
                <a:solidFill>
                  <a:srgbClr val="151515"/>
                </a:solidFill>
                <a:latin typeface="Arial MT"/>
                <a:cs typeface="Arial MT"/>
              </a:rPr>
              <a:t>emergency</a:t>
            </a:r>
            <a:r>
              <a:rPr sz="2300" spc="3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131313"/>
                </a:solidFill>
                <a:latin typeface="Arial MT"/>
                <a:cs typeface="Arial MT"/>
              </a:rPr>
              <a:t>response </a:t>
            </a:r>
            <a:r>
              <a:rPr sz="2150" dirty="0">
                <a:solidFill>
                  <a:srgbClr val="161616"/>
                </a:solidFill>
                <a:latin typeface="Arial MT"/>
                <a:cs typeface="Arial MT"/>
              </a:rPr>
              <a:t>integration</a:t>
            </a:r>
            <a:r>
              <a:rPr sz="2150" spc="1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215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181818"/>
                </a:solidFill>
                <a:latin typeface="Arial MT"/>
                <a:cs typeface="Arial MT"/>
              </a:rPr>
              <a:t>connect </a:t>
            </a:r>
            <a:r>
              <a:rPr sz="2300" spc="-80" dirty="0">
                <a:solidFill>
                  <a:srgbClr val="161616"/>
                </a:solidFill>
                <a:latin typeface="Arial MT"/>
                <a:cs typeface="Arial MT"/>
              </a:rPr>
              <a:t>users</a:t>
            </a:r>
            <a:r>
              <a:rPr sz="2300" spc="-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sz="2300" spc="-1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131313"/>
                </a:solidFill>
                <a:latin typeface="Arial MT"/>
                <a:cs typeface="Arial MT"/>
              </a:rPr>
              <a:t>authorities </a:t>
            </a:r>
            <a:r>
              <a:rPr sz="2350" spc="-10" dirty="0">
                <a:solidFill>
                  <a:srgbClr val="111111"/>
                </a:solidFill>
                <a:latin typeface="Arial MT"/>
                <a:cs typeface="Arial MT"/>
              </a:rPr>
              <a:t>instantly.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3187700"/>
            <a:ext cx="7162800" cy="2159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77900" y="4013200"/>
            <a:ext cx="1206500" cy="844550"/>
            <a:chOff x="977900" y="4013200"/>
            <a:chExt cx="1206500" cy="8445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100" y="4013200"/>
              <a:ext cx="622300" cy="431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900" y="4445000"/>
              <a:ext cx="1066800" cy="41275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7900" y="5727700"/>
            <a:ext cx="1206500" cy="1168400"/>
            <a:chOff x="977900" y="5727700"/>
            <a:chExt cx="1206500" cy="11684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0" y="5727700"/>
              <a:ext cx="660400" cy="476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7900" y="6216650"/>
              <a:ext cx="1016000" cy="406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5700" y="6635750"/>
              <a:ext cx="546100" cy="26035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977900" y="7442200"/>
            <a:ext cx="1219200" cy="831850"/>
            <a:chOff x="977900" y="7442200"/>
            <a:chExt cx="1219200" cy="83185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2100" y="7442200"/>
              <a:ext cx="635000" cy="4254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7900" y="7867650"/>
              <a:ext cx="1066800" cy="40640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2200" y="4870450"/>
            <a:ext cx="647700" cy="3238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2200" y="8286750"/>
            <a:ext cx="660400" cy="32385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98475" y="634999"/>
            <a:ext cx="1503045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50" dirty="0">
                <a:solidFill>
                  <a:srgbClr val="03564D"/>
                </a:solidFill>
              </a:rPr>
              <a:t>Operational</a:t>
            </a:r>
            <a:r>
              <a:rPr sz="6250" spc="265" dirty="0">
                <a:solidFill>
                  <a:srgbClr val="03564D"/>
                </a:solidFill>
              </a:rPr>
              <a:t> </a:t>
            </a:r>
            <a:r>
              <a:rPr sz="6250" spc="95" dirty="0">
                <a:solidFill>
                  <a:srgbClr val="035950"/>
                </a:solidFill>
              </a:rPr>
              <a:t>Status: </a:t>
            </a:r>
            <a:r>
              <a:rPr sz="6250" spc="100" dirty="0">
                <a:solidFill>
                  <a:srgbClr val="035E56"/>
                </a:solidFill>
              </a:rPr>
              <a:t>From</a:t>
            </a:r>
            <a:r>
              <a:rPr sz="6250" spc="-100" dirty="0">
                <a:solidFill>
                  <a:srgbClr val="035E56"/>
                </a:solidFill>
              </a:rPr>
              <a:t> </a:t>
            </a:r>
            <a:r>
              <a:rPr sz="6250" spc="55" dirty="0">
                <a:solidFill>
                  <a:srgbClr val="005950"/>
                </a:solidFill>
              </a:rPr>
              <a:t>Concept</a:t>
            </a:r>
            <a:r>
              <a:rPr sz="6250" spc="420" dirty="0">
                <a:solidFill>
                  <a:srgbClr val="005950"/>
                </a:solidFill>
              </a:rPr>
              <a:t> </a:t>
            </a:r>
            <a:r>
              <a:rPr sz="6250" spc="160" dirty="0">
                <a:solidFill>
                  <a:srgbClr val="015D4F"/>
                </a:solidFill>
              </a:rPr>
              <a:t>to</a:t>
            </a:r>
            <a:r>
              <a:rPr sz="6250" spc="-430" dirty="0">
                <a:solidFill>
                  <a:srgbClr val="015D4F"/>
                </a:solidFill>
              </a:rPr>
              <a:t> </a:t>
            </a:r>
            <a:r>
              <a:rPr sz="6250" spc="150" dirty="0">
                <a:solidFill>
                  <a:srgbClr val="015B50"/>
                </a:solidFill>
              </a:rPr>
              <a:t>Model</a:t>
            </a:r>
            <a:endParaRPr sz="6250"/>
          </a:p>
        </p:txBody>
      </p:sp>
      <p:sp>
        <p:nvSpPr>
          <p:cNvPr id="16" name="object 16"/>
          <p:cNvSpPr txBox="1"/>
          <p:nvPr/>
        </p:nvSpPr>
        <p:spPr>
          <a:xfrm>
            <a:off x="965119" y="2415822"/>
            <a:ext cx="1469072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346440" algn="l"/>
              </a:tabLst>
            </a:pPr>
            <a:r>
              <a:rPr sz="4000" spc="-60" dirty="0">
                <a:solidFill>
                  <a:srgbClr val="055D54"/>
                </a:solidFill>
                <a:latin typeface="Arial MT"/>
                <a:cs typeface="Arial MT"/>
              </a:rPr>
              <a:t>COMPLETED</a:t>
            </a:r>
            <a:r>
              <a:rPr sz="4000" spc="-130" dirty="0">
                <a:solidFill>
                  <a:srgbClr val="055D54"/>
                </a:solidFill>
                <a:latin typeface="Arial MT"/>
                <a:cs typeface="Arial MT"/>
              </a:rPr>
              <a:t> </a:t>
            </a:r>
            <a:r>
              <a:rPr sz="4000" spc="130" dirty="0">
                <a:solidFill>
                  <a:srgbClr val="086B5D"/>
                </a:solidFill>
                <a:latin typeface="Arial MT"/>
                <a:cs typeface="Arial MT"/>
              </a:rPr>
              <a:t>&amp;</a:t>
            </a:r>
            <a:r>
              <a:rPr sz="4000" spc="-280" dirty="0">
                <a:solidFill>
                  <a:srgbClr val="086B5D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3564D"/>
                </a:solidFill>
                <a:latin typeface="Arial MT"/>
                <a:cs typeface="Arial MT"/>
              </a:rPr>
              <a:t>DEPLOYED</a:t>
            </a:r>
            <a:r>
              <a:rPr sz="4000" dirty="0">
                <a:solidFill>
                  <a:srgbClr val="03564D"/>
                </a:solidFill>
                <a:latin typeface="Arial MT"/>
                <a:cs typeface="Arial MT"/>
              </a:rPr>
              <a:t>	</a:t>
            </a:r>
            <a:r>
              <a:rPr sz="4000" spc="114" dirty="0">
                <a:solidFill>
                  <a:srgbClr val="086054"/>
                </a:solidFill>
                <a:latin typeface="Arial MT"/>
                <a:cs typeface="Arial MT"/>
              </a:rPr>
              <a:t>IN</a:t>
            </a:r>
            <a:r>
              <a:rPr sz="4000" spc="-275" dirty="0">
                <a:solidFill>
                  <a:srgbClr val="086054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36256"/>
                </a:solidFill>
                <a:latin typeface="Arial MT"/>
                <a:cs typeface="Arial MT"/>
              </a:rPr>
              <a:t>ACTIVE</a:t>
            </a:r>
            <a:r>
              <a:rPr sz="4000" spc="-105" dirty="0">
                <a:solidFill>
                  <a:srgbClr val="036256"/>
                </a:solidFill>
                <a:latin typeface="Arial MT"/>
                <a:cs typeface="Arial MT"/>
              </a:rPr>
              <a:t> </a:t>
            </a:r>
            <a:r>
              <a:rPr sz="4000" spc="-80" dirty="0">
                <a:solidFill>
                  <a:srgbClr val="086456"/>
                </a:solidFill>
                <a:latin typeface="Arial MT"/>
                <a:cs typeface="Arial MT"/>
              </a:rPr>
              <a:t>DEVELOPMENT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58331" y="3889375"/>
            <a:ext cx="5598160" cy="13398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8415" marR="5080" indent="-6350">
              <a:lnSpc>
                <a:spcPts val="3300"/>
              </a:lnSpc>
              <a:spcBef>
                <a:spcPts val="585"/>
              </a:spcBef>
            </a:pPr>
            <a:r>
              <a:rPr sz="3100" spc="-210" dirty="0">
                <a:latin typeface="Arial MT"/>
                <a:cs typeface="Arial MT"/>
              </a:rPr>
              <a:t>Case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110" dirty="0">
                <a:latin typeface="Arial MT"/>
                <a:cs typeface="Arial MT"/>
              </a:rPr>
              <a:t>Studies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100" dirty="0">
                <a:latin typeface="Arial MT"/>
                <a:cs typeface="Arial MT"/>
              </a:rPr>
              <a:t>Section: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Fully </a:t>
            </a:r>
            <a:r>
              <a:rPr sz="3100" spc="-145" dirty="0">
                <a:latin typeface="Arial MT"/>
                <a:cs typeface="Arial MT"/>
              </a:rPr>
              <a:t>developed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with</a:t>
            </a:r>
            <a:r>
              <a:rPr sz="3100" spc="-185" dirty="0">
                <a:latin typeface="Arial MT"/>
                <a:cs typeface="Arial MT"/>
              </a:rPr>
              <a:t> </a:t>
            </a:r>
            <a:r>
              <a:rPr sz="3100" spc="-95" dirty="0">
                <a:latin typeface="Arial MT"/>
                <a:cs typeface="Arial MT"/>
              </a:rPr>
              <a:t>structured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130" dirty="0">
                <a:latin typeface="Arial MT"/>
                <a:cs typeface="Arial MT"/>
              </a:rPr>
              <a:t>analysis </a:t>
            </a:r>
            <a:r>
              <a:rPr sz="3100" spc="-30" dirty="0">
                <a:latin typeface="Arial MT"/>
                <a:cs typeface="Arial MT"/>
              </a:rPr>
              <a:t>protocols.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19445" y="3889375"/>
            <a:ext cx="4819015" cy="13398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8255">
              <a:lnSpc>
                <a:spcPts val="3300"/>
              </a:lnSpc>
              <a:spcBef>
                <a:spcPts val="585"/>
              </a:spcBef>
            </a:pPr>
            <a:r>
              <a:rPr sz="3100" spc="-400" dirty="0">
                <a:solidFill>
                  <a:srgbClr val="0C0C0C"/>
                </a:solidFill>
                <a:latin typeface="Arial MT"/>
                <a:cs typeface="Arial MT"/>
              </a:rPr>
              <a:t>SOS</a:t>
            </a:r>
            <a:r>
              <a:rPr sz="3100" spc="-1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100" spc="-145" dirty="0">
                <a:latin typeface="Arial MT"/>
                <a:cs typeface="Arial MT"/>
              </a:rPr>
              <a:t>Feature: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114" dirty="0">
                <a:latin typeface="Arial MT"/>
                <a:cs typeface="Arial MT"/>
              </a:rPr>
              <a:t>Currently</a:t>
            </a:r>
            <a:r>
              <a:rPr sz="3100" spc="-10" dirty="0">
                <a:latin typeface="Arial MT"/>
                <a:cs typeface="Arial MT"/>
              </a:rPr>
              <a:t> being </a:t>
            </a:r>
            <a:r>
              <a:rPr sz="3100" spc="-165" dirty="0">
                <a:latin typeface="Arial MT"/>
                <a:cs typeface="Arial MT"/>
              </a:rPr>
              <a:t>engineered</a:t>
            </a:r>
            <a:r>
              <a:rPr sz="3100" spc="-10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for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130" dirty="0">
                <a:latin typeface="Arial MT"/>
                <a:cs typeface="Arial MT"/>
              </a:rPr>
              <a:t>rapid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spc="-130" dirty="0">
                <a:latin typeface="Arial MT"/>
                <a:cs typeface="Arial MT"/>
              </a:rPr>
              <a:t>response </a:t>
            </a:r>
            <a:r>
              <a:rPr sz="3100" spc="-40" dirty="0">
                <a:latin typeface="Arial MT"/>
                <a:cs typeface="Arial MT"/>
              </a:rPr>
              <a:t>integration.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8153" y="5681133"/>
            <a:ext cx="5586095" cy="296100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7305" marR="130810" indent="-15240">
              <a:lnSpc>
                <a:spcPts val="3300"/>
              </a:lnSpc>
              <a:spcBef>
                <a:spcPts val="375"/>
              </a:spcBef>
            </a:pPr>
            <a:r>
              <a:rPr sz="2900" dirty="0">
                <a:latin typeface="Arial MT"/>
                <a:cs typeface="Arial MT"/>
              </a:rPr>
              <a:t>Interactive</a:t>
            </a:r>
            <a:r>
              <a:rPr sz="2900" spc="80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Quiz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Module: </a:t>
            </a:r>
            <a:r>
              <a:rPr sz="2900" spc="-25" dirty="0">
                <a:latin typeface="Arial MT"/>
                <a:cs typeface="Arial MT"/>
              </a:rPr>
              <a:t>Live</a:t>
            </a:r>
            <a:r>
              <a:rPr sz="2900" spc="3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and </a:t>
            </a:r>
            <a:r>
              <a:rPr sz="2950" spc="-10" dirty="0">
                <a:latin typeface="Arial MT"/>
                <a:cs typeface="Arial MT"/>
              </a:rPr>
              <a:t>tailored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for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both</a:t>
            </a:r>
            <a:r>
              <a:rPr sz="2950" spc="-12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target </a:t>
            </a:r>
            <a:r>
              <a:rPr sz="2900" spc="-10" dirty="0">
                <a:latin typeface="Arial MT"/>
                <a:cs typeface="Arial MT"/>
              </a:rPr>
              <a:t>demographics.</a:t>
            </a:r>
            <a:endParaRPr sz="2900">
              <a:latin typeface="Arial MT"/>
              <a:cs typeface="Arial MT"/>
            </a:endParaRPr>
          </a:p>
          <a:p>
            <a:pPr marL="33020" marR="5080" indent="-15240">
              <a:lnSpc>
                <a:spcPct val="92500"/>
              </a:lnSpc>
              <a:spcBef>
                <a:spcPts val="3105"/>
              </a:spcBef>
            </a:pPr>
            <a:r>
              <a:rPr sz="2950" spc="-20" dirty="0">
                <a:latin typeface="Arial MT"/>
                <a:cs typeface="Arial MT"/>
              </a:rPr>
              <a:t>Navigation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spc="-85" dirty="0">
                <a:latin typeface="Arial MT"/>
                <a:cs typeface="Arial MT"/>
              </a:rPr>
              <a:t>MVP: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spc="-60" dirty="0">
                <a:latin typeface="Arial MT"/>
                <a:cs typeface="Arial MT"/>
              </a:rPr>
              <a:t>Single-</a:t>
            </a:r>
            <a:r>
              <a:rPr sz="2950" spc="-10" dirty="0">
                <a:latin typeface="Arial MT"/>
                <a:cs typeface="Arial MT"/>
              </a:rPr>
              <a:t>floor </a:t>
            </a:r>
            <a:r>
              <a:rPr sz="2950" spc="-35" dirty="0">
                <a:latin typeface="Arial MT"/>
                <a:cs typeface="Arial MT"/>
              </a:rPr>
              <a:t>university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building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model</a:t>
            </a:r>
            <a:r>
              <a:rPr sz="2950" spc="-150" dirty="0">
                <a:latin typeface="Arial MT"/>
                <a:cs typeface="Arial MT"/>
              </a:rPr>
              <a:t> </a:t>
            </a:r>
            <a:r>
              <a:rPr sz="2950" spc="-45" dirty="0">
                <a:latin typeface="Arial MT"/>
                <a:cs typeface="Arial MT"/>
              </a:rPr>
              <a:t>designed </a:t>
            </a:r>
            <a:r>
              <a:rPr sz="2950" spc="-80" dirty="0">
                <a:latin typeface="Arial MT"/>
                <a:cs typeface="Arial MT"/>
              </a:rPr>
              <a:t>and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implemented.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143000"/>
            <a:ext cx="15113000" cy="8293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3833" y="338666"/>
            <a:ext cx="10170795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dirty="0">
                <a:solidFill>
                  <a:srgbClr val="01544D"/>
                </a:solidFill>
              </a:rPr>
              <a:t>Expanding</a:t>
            </a:r>
            <a:r>
              <a:rPr sz="5800" spc="180" dirty="0">
                <a:solidFill>
                  <a:srgbClr val="01544D"/>
                </a:solidFill>
              </a:rPr>
              <a:t> </a:t>
            </a:r>
            <a:r>
              <a:rPr sz="5800" dirty="0">
                <a:solidFill>
                  <a:srgbClr val="03524D"/>
                </a:solidFill>
              </a:rPr>
              <a:t>the</a:t>
            </a:r>
            <a:r>
              <a:rPr sz="5800" spc="-250" dirty="0">
                <a:solidFill>
                  <a:srgbClr val="03524D"/>
                </a:solidFill>
              </a:rPr>
              <a:t> </a:t>
            </a:r>
            <a:r>
              <a:rPr sz="5800" dirty="0">
                <a:solidFill>
                  <a:srgbClr val="01504B"/>
                </a:solidFill>
              </a:rPr>
              <a:t>Safety</a:t>
            </a:r>
            <a:r>
              <a:rPr sz="5800" spc="-150" dirty="0">
                <a:solidFill>
                  <a:srgbClr val="01504B"/>
                </a:solidFill>
              </a:rPr>
              <a:t> </a:t>
            </a:r>
            <a:r>
              <a:rPr sz="5800" spc="-10" dirty="0">
                <a:solidFill>
                  <a:srgbClr val="01574D"/>
                </a:solidFill>
              </a:rPr>
              <a:t>Ecosystem</a:t>
            </a:r>
            <a:endParaRPr sz="5800"/>
          </a:p>
        </p:txBody>
      </p:sp>
      <p:sp>
        <p:nvSpPr>
          <p:cNvPr id="4" name="object 4"/>
          <p:cNvSpPr txBox="1"/>
          <p:nvPr/>
        </p:nvSpPr>
        <p:spPr>
          <a:xfrm>
            <a:off x="4171707" y="2257072"/>
            <a:ext cx="129730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35" dirty="0">
                <a:solidFill>
                  <a:srgbClr val="114D46"/>
                </a:solidFill>
                <a:latin typeface="Cambria"/>
                <a:cs typeface="Cambria"/>
              </a:rPr>
              <a:t>Schools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01337" y="5455002"/>
            <a:ext cx="151638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10" dirty="0">
                <a:solidFill>
                  <a:srgbClr val="034B41"/>
                </a:solidFill>
                <a:latin typeface="Cambria"/>
                <a:cs typeface="Cambria"/>
              </a:rPr>
              <a:t>Hospitals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6356" y="4474633"/>
            <a:ext cx="2338705" cy="863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3290"/>
              </a:lnSpc>
              <a:spcBef>
                <a:spcPts val="114"/>
              </a:spcBef>
            </a:pPr>
            <a:r>
              <a:rPr sz="2900" spc="160" dirty="0">
                <a:solidFill>
                  <a:srgbClr val="08423F"/>
                </a:solidFill>
                <a:latin typeface="Calibri"/>
                <a:cs typeface="Calibri"/>
              </a:rPr>
              <a:t>SANRAKSHAN</a:t>
            </a:r>
            <a:endParaRPr sz="2900">
              <a:latin typeface="Calibri"/>
              <a:cs typeface="Calibri"/>
            </a:endParaRPr>
          </a:p>
          <a:p>
            <a:pPr marL="14604" algn="ctr">
              <a:lnSpc>
                <a:spcPts val="3290"/>
              </a:lnSpc>
            </a:pPr>
            <a:r>
              <a:rPr sz="2900" spc="80" dirty="0">
                <a:solidFill>
                  <a:srgbClr val="0C4942"/>
                </a:solidFill>
                <a:latin typeface="Calibri"/>
                <a:cs typeface="Calibri"/>
              </a:rPr>
              <a:t>Hub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2824" y="7919959"/>
            <a:ext cx="7232650" cy="13125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46050" algn="ctr">
              <a:lnSpc>
                <a:spcPct val="100000"/>
              </a:lnSpc>
              <a:spcBef>
                <a:spcPts val="735"/>
              </a:spcBef>
            </a:pPr>
            <a:r>
              <a:rPr sz="3250" spc="-30" dirty="0">
                <a:solidFill>
                  <a:srgbClr val="0F4641"/>
                </a:solidFill>
                <a:latin typeface="Cambria"/>
                <a:cs typeface="Cambria"/>
              </a:rPr>
              <a:t>Strategic</a:t>
            </a:r>
            <a:r>
              <a:rPr sz="3250" spc="-100" dirty="0">
                <a:solidFill>
                  <a:srgbClr val="0F4641"/>
                </a:solidFill>
                <a:latin typeface="Cambria"/>
                <a:cs typeface="Cambria"/>
              </a:rPr>
              <a:t> </a:t>
            </a:r>
            <a:r>
              <a:rPr sz="3250" spc="-10" dirty="0">
                <a:solidFill>
                  <a:srgbClr val="0F564B"/>
                </a:solidFill>
                <a:latin typeface="Cambria"/>
                <a:cs typeface="Cambria"/>
              </a:rPr>
              <a:t>Partnerships</a:t>
            </a:r>
            <a:endParaRPr sz="3250">
              <a:latin typeface="Cambria"/>
              <a:cs typeface="Cambria"/>
            </a:endParaRPr>
          </a:p>
          <a:p>
            <a:pPr marL="461009" marR="5080" indent="-448945">
              <a:lnSpc>
                <a:spcPts val="2500"/>
              </a:lnSpc>
              <a:spcBef>
                <a:spcPts val="650"/>
              </a:spcBef>
            </a:pPr>
            <a:r>
              <a:rPr sz="2200" dirty="0">
                <a:latin typeface="Arial MT"/>
                <a:cs typeface="Arial MT"/>
              </a:rPr>
              <a:t>Direct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collaboration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disaster</a:t>
            </a:r>
            <a:r>
              <a:rPr sz="2200" spc="9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management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authorities </a:t>
            </a:r>
            <a:r>
              <a:rPr sz="2200" spc="7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align</a:t>
            </a:r>
            <a:r>
              <a:rPr sz="2200" spc="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platform</a:t>
            </a:r>
            <a:r>
              <a:rPr sz="2200" spc="2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national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safety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protocols.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98847" y="2257072"/>
            <a:ext cx="87566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70" dirty="0">
                <a:solidFill>
                  <a:srgbClr val="014D49"/>
                </a:solidFill>
                <a:latin typeface="Cambria"/>
                <a:cs typeface="Cambria"/>
              </a:rPr>
              <a:t>Malls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13638" y="8090252"/>
            <a:ext cx="2898775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dirty="0">
                <a:solidFill>
                  <a:srgbClr val="0F493F"/>
                </a:solidFill>
                <a:latin typeface="Cambria"/>
                <a:cs typeface="Cambria"/>
              </a:rPr>
              <a:t>Public</a:t>
            </a:r>
            <a:r>
              <a:rPr sz="2850" spc="114" dirty="0">
                <a:solidFill>
                  <a:srgbClr val="0F493F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F4F44"/>
                </a:solidFill>
                <a:latin typeface="Cambria"/>
                <a:cs typeface="Cambria"/>
              </a:rPr>
              <a:t>Institutions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1689100"/>
            <a:ext cx="15621000" cy="734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9464" y="642761"/>
            <a:ext cx="8992870" cy="1863089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marR="5080">
              <a:lnSpc>
                <a:spcPts val="6800"/>
              </a:lnSpc>
              <a:spcBef>
                <a:spcPts val="1045"/>
              </a:spcBef>
            </a:pPr>
            <a:r>
              <a:rPr sz="6350" dirty="0">
                <a:solidFill>
                  <a:srgbClr val="005B52"/>
                </a:solidFill>
              </a:rPr>
              <a:t>Bridging</a:t>
            </a:r>
            <a:r>
              <a:rPr sz="6350" spc="420" dirty="0">
                <a:solidFill>
                  <a:srgbClr val="005B52"/>
                </a:solidFill>
              </a:rPr>
              <a:t> </a:t>
            </a:r>
            <a:r>
              <a:rPr sz="6350" dirty="0">
                <a:solidFill>
                  <a:srgbClr val="056962"/>
                </a:solidFill>
              </a:rPr>
              <a:t>the</a:t>
            </a:r>
            <a:r>
              <a:rPr sz="6350" spc="-70" dirty="0">
                <a:solidFill>
                  <a:srgbClr val="056962"/>
                </a:solidFill>
              </a:rPr>
              <a:t> </a:t>
            </a:r>
            <a:r>
              <a:rPr sz="6350" dirty="0">
                <a:solidFill>
                  <a:srgbClr val="015D59"/>
                </a:solidFill>
              </a:rPr>
              <a:t>Gap</a:t>
            </a:r>
            <a:r>
              <a:rPr sz="6350" spc="-105" dirty="0">
                <a:solidFill>
                  <a:srgbClr val="015D59"/>
                </a:solidFill>
              </a:rPr>
              <a:t> </a:t>
            </a:r>
            <a:r>
              <a:rPr sz="6350" spc="-55" dirty="0">
                <a:solidFill>
                  <a:srgbClr val="036056"/>
                </a:solidFill>
              </a:rPr>
              <a:t>Between </a:t>
            </a:r>
            <a:r>
              <a:rPr sz="6350" dirty="0">
                <a:solidFill>
                  <a:srgbClr val="015B54"/>
                </a:solidFill>
              </a:rPr>
              <a:t>Panic</a:t>
            </a:r>
            <a:r>
              <a:rPr sz="6350" spc="195" dirty="0">
                <a:solidFill>
                  <a:srgbClr val="015B54"/>
                </a:solidFill>
              </a:rPr>
              <a:t> </a:t>
            </a:r>
            <a:r>
              <a:rPr sz="6350" dirty="0">
                <a:solidFill>
                  <a:srgbClr val="015950"/>
                </a:solidFill>
              </a:rPr>
              <a:t>and</a:t>
            </a:r>
            <a:r>
              <a:rPr sz="6350" spc="75" dirty="0">
                <a:solidFill>
                  <a:srgbClr val="015950"/>
                </a:solidFill>
              </a:rPr>
              <a:t> </a:t>
            </a:r>
            <a:r>
              <a:rPr sz="6350" spc="-10" dirty="0">
                <a:solidFill>
                  <a:srgbClr val="036059"/>
                </a:solidFill>
              </a:rPr>
              <a:t>Safety</a:t>
            </a:r>
            <a:endParaRPr sz="6350"/>
          </a:p>
        </p:txBody>
      </p:sp>
      <p:sp>
        <p:nvSpPr>
          <p:cNvPr id="4" name="object 4"/>
          <p:cNvSpPr txBox="1"/>
          <p:nvPr/>
        </p:nvSpPr>
        <p:spPr>
          <a:xfrm>
            <a:off x="796864" y="3347861"/>
            <a:ext cx="5141595" cy="46843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6510" marR="883919" indent="2111375" algn="just">
              <a:lnSpc>
                <a:spcPct val="88700"/>
              </a:lnSpc>
              <a:spcBef>
                <a:spcPts val="660"/>
              </a:spcBef>
            </a:pPr>
            <a:r>
              <a:rPr sz="3850" spc="-160" dirty="0">
                <a:latin typeface="Calibri"/>
                <a:cs typeface="Calibri"/>
              </a:rPr>
              <a:t>tive</a:t>
            </a:r>
            <a:r>
              <a:rPr sz="3850" spc="-35" dirty="0">
                <a:latin typeface="Calibri"/>
                <a:cs typeface="Calibri"/>
              </a:rPr>
              <a:t> </a:t>
            </a:r>
            <a:r>
              <a:rPr sz="3850" spc="-10" dirty="0">
                <a:latin typeface="Calibri"/>
                <a:cs typeface="Calibri"/>
              </a:rPr>
              <a:t>chaos, </a:t>
            </a:r>
            <a:r>
              <a:rPr sz="3850" spc="-45" dirty="0">
                <a:latin typeface="Calibri"/>
                <a:cs typeface="Calibri"/>
              </a:rPr>
              <a:t>lack</a:t>
            </a:r>
            <a:r>
              <a:rPr sz="3850" spc="-175" dirty="0">
                <a:latin typeface="Calibri"/>
                <a:cs typeface="Calibri"/>
              </a:rPr>
              <a:t> </a:t>
            </a:r>
            <a:r>
              <a:rPr sz="3850" spc="-65" dirty="0">
                <a:latin typeface="Calibri"/>
                <a:cs typeface="Calibri"/>
              </a:rPr>
              <a:t>of</a:t>
            </a:r>
            <a:r>
              <a:rPr sz="3850" spc="-155" dirty="0">
                <a:latin typeface="Calibri"/>
                <a:cs typeface="Calibri"/>
              </a:rPr>
              <a:t> </a:t>
            </a:r>
            <a:r>
              <a:rPr sz="3850" spc="-125" dirty="0">
                <a:latin typeface="Calibri"/>
                <a:cs typeface="Calibri"/>
              </a:rPr>
              <a:t>awareness,</a:t>
            </a:r>
            <a:r>
              <a:rPr sz="3850" spc="10" dirty="0">
                <a:latin typeface="Calibri"/>
                <a:cs typeface="Calibri"/>
              </a:rPr>
              <a:t> </a:t>
            </a:r>
            <a:r>
              <a:rPr sz="3850" spc="-95" dirty="0">
                <a:latin typeface="Calibri"/>
                <a:cs typeface="Calibri"/>
              </a:rPr>
              <a:t>and </a:t>
            </a:r>
            <a:r>
              <a:rPr sz="3800" spc="-40" dirty="0">
                <a:latin typeface="Calibri"/>
                <a:cs typeface="Calibri"/>
              </a:rPr>
              <a:t>confusion.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45"/>
              </a:spcBef>
            </a:pPr>
            <a:endParaRPr sz="3850">
              <a:latin typeface="Calibri"/>
              <a:cs typeface="Calibri"/>
            </a:endParaRPr>
          </a:p>
          <a:p>
            <a:pPr marL="12700" marR="5080" indent="680085">
              <a:lnSpc>
                <a:spcPct val="97400"/>
              </a:lnSpc>
            </a:pPr>
            <a:r>
              <a:rPr sz="3450" spc="-95" dirty="0">
                <a:latin typeface="Arial MT"/>
                <a:cs typeface="Arial MT"/>
              </a:rPr>
              <a:t>Proactive</a:t>
            </a:r>
            <a:r>
              <a:rPr sz="3450" spc="-80" dirty="0">
                <a:latin typeface="Arial MT"/>
                <a:cs typeface="Arial MT"/>
              </a:rPr>
              <a:t> </a:t>
            </a:r>
            <a:r>
              <a:rPr sz="3450" spc="-125" dirty="0">
                <a:latin typeface="Arial MT"/>
                <a:cs typeface="Arial MT"/>
              </a:rPr>
              <a:t>preparedness, </a:t>
            </a:r>
            <a:r>
              <a:rPr sz="3450" spc="-25" dirty="0">
                <a:latin typeface="Arial MT"/>
                <a:cs typeface="Arial MT"/>
              </a:rPr>
              <a:t>real-</a:t>
            </a:r>
            <a:r>
              <a:rPr sz="3450" dirty="0">
                <a:latin typeface="Arial MT"/>
                <a:cs typeface="Arial MT"/>
              </a:rPr>
              <a:t>time</a:t>
            </a:r>
            <a:r>
              <a:rPr sz="3450" spc="40" dirty="0">
                <a:latin typeface="Arial MT"/>
                <a:cs typeface="Arial MT"/>
              </a:rPr>
              <a:t> </a:t>
            </a:r>
            <a:r>
              <a:rPr sz="3450" spc="-10" dirty="0">
                <a:latin typeface="Arial MT"/>
                <a:cs typeface="Arial MT"/>
              </a:rPr>
              <a:t>structured </a:t>
            </a:r>
            <a:r>
              <a:rPr sz="3450" spc="-65" dirty="0">
                <a:latin typeface="Arial MT"/>
                <a:cs typeface="Arial MT"/>
              </a:rPr>
              <a:t>guidance,</a:t>
            </a:r>
            <a:r>
              <a:rPr sz="3450" spc="-150" dirty="0">
                <a:latin typeface="Arial MT"/>
                <a:cs typeface="Arial MT"/>
              </a:rPr>
              <a:t> </a:t>
            </a:r>
            <a:r>
              <a:rPr sz="3450" spc="-114" dirty="0">
                <a:latin typeface="Arial MT"/>
                <a:cs typeface="Arial MT"/>
              </a:rPr>
              <a:t>and</a:t>
            </a:r>
            <a:r>
              <a:rPr sz="3450" spc="-130" dirty="0">
                <a:latin typeface="Arial MT"/>
                <a:cs typeface="Arial MT"/>
              </a:rPr>
              <a:t> </a:t>
            </a:r>
            <a:r>
              <a:rPr sz="3450" spc="-10" dirty="0">
                <a:latin typeface="Arial MT"/>
                <a:cs typeface="Arial MT"/>
              </a:rPr>
              <a:t>reduced casualties.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42412" y="9413522"/>
            <a:ext cx="13970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0300" y="7886700"/>
            <a:ext cx="596900" cy="800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0300" y="6515100"/>
            <a:ext cx="596900" cy="800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40300" y="5130800"/>
            <a:ext cx="596900" cy="800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0300" y="3746500"/>
            <a:ext cx="596900" cy="800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0300" y="2362200"/>
            <a:ext cx="596900" cy="812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85300" y="2425700"/>
            <a:ext cx="711200" cy="127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12318" y="672747"/>
            <a:ext cx="12181205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150" dirty="0">
                <a:solidFill>
                  <a:srgbClr val="056256"/>
                </a:solidFill>
              </a:rPr>
              <a:t>The</a:t>
            </a:r>
            <a:r>
              <a:rPr sz="7150" spc="-395" dirty="0">
                <a:solidFill>
                  <a:srgbClr val="056256"/>
                </a:solidFill>
              </a:rPr>
              <a:t> </a:t>
            </a:r>
            <a:r>
              <a:rPr sz="7150" spc="-90" dirty="0">
                <a:solidFill>
                  <a:srgbClr val="03594D"/>
                </a:solidFill>
              </a:rPr>
              <a:t>Team</a:t>
            </a:r>
            <a:r>
              <a:rPr sz="7150" spc="-305" dirty="0">
                <a:solidFill>
                  <a:srgbClr val="03594D"/>
                </a:solidFill>
              </a:rPr>
              <a:t> </a:t>
            </a:r>
            <a:r>
              <a:rPr sz="7150" spc="-30" dirty="0">
                <a:solidFill>
                  <a:srgbClr val="03544B"/>
                </a:solidFill>
              </a:rPr>
              <a:t>Behind</a:t>
            </a:r>
            <a:r>
              <a:rPr sz="7150" spc="-290" dirty="0">
                <a:solidFill>
                  <a:srgbClr val="03544B"/>
                </a:solidFill>
              </a:rPr>
              <a:t> </a:t>
            </a:r>
            <a:r>
              <a:rPr sz="7150" spc="-114" dirty="0">
                <a:solidFill>
                  <a:srgbClr val="07665D"/>
                </a:solidFill>
              </a:rPr>
              <a:t>the</a:t>
            </a:r>
            <a:r>
              <a:rPr sz="7150" spc="-420" dirty="0">
                <a:solidFill>
                  <a:srgbClr val="07665D"/>
                </a:solidFill>
              </a:rPr>
              <a:t> </a:t>
            </a:r>
            <a:r>
              <a:rPr sz="7150" spc="-85" dirty="0">
                <a:solidFill>
                  <a:srgbClr val="01594D"/>
                </a:solidFill>
              </a:rPr>
              <a:t>Protection</a:t>
            </a:r>
            <a:endParaRPr sz="7150"/>
          </a:p>
        </p:txBody>
      </p:sp>
      <p:sp>
        <p:nvSpPr>
          <p:cNvPr id="9" name="object 9"/>
          <p:cNvSpPr txBox="1"/>
          <p:nvPr/>
        </p:nvSpPr>
        <p:spPr>
          <a:xfrm>
            <a:off x="5997841" y="1772355"/>
            <a:ext cx="6816090" cy="6971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830" marR="243204" indent="-24765">
              <a:lnSpc>
                <a:spcPct val="140400"/>
              </a:lnSpc>
              <a:spcBef>
                <a:spcPts val="90"/>
              </a:spcBef>
            </a:pPr>
            <a:r>
              <a:rPr sz="6500" spc="65" dirty="0">
                <a:solidFill>
                  <a:srgbClr val="035E56"/>
                </a:solidFill>
                <a:latin typeface="Cambria"/>
                <a:cs typeface="Cambria"/>
              </a:rPr>
              <a:t>Mohd.</a:t>
            </a:r>
            <a:r>
              <a:rPr sz="6500" spc="-120" dirty="0">
                <a:solidFill>
                  <a:srgbClr val="035E56"/>
                </a:solidFill>
                <a:latin typeface="Cambria"/>
                <a:cs typeface="Cambria"/>
              </a:rPr>
              <a:t> </a:t>
            </a:r>
            <a:r>
              <a:rPr sz="6500" dirty="0">
                <a:solidFill>
                  <a:srgbClr val="016657"/>
                </a:solidFill>
                <a:latin typeface="Cambria"/>
                <a:cs typeface="Cambria"/>
              </a:rPr>
              <a:t>Sahil</a:t>
            </a:r>
            <a:r>
              <a:rPr sz="6500" spc="-105" dirty="0">
                <a:solidFill>
                  <a:srgbClr val="016657"/>
                </a:solidFill>
                <a:latin typeface="Cambria"/>
                <a:cs typeface="Cambria"/>
              </a:rPr>
              <a:t> </a:t>
            </a:r>
            <a:r>
              <a:rPr sz="6500" spc="-70" dirty="0">
                <a:solidFill>
                  <a:srgbClr val="05564D"/>
                </a:solidFill>
                <a:latin typeface="Cambria"/>
                <a:cs typeface="Cambria"/>
              </a:rPr>
              <a:t>Ansari </a:t>
            </a:r>
            <a:r>
              <a:rPr sz="6500" spc="-10" dirty="0">
                <a:solidFill>
                  <a:srgbClr val="03544D"/>
                </a:solidFill>
                <a:latin typeface="Cambria"/>
                <a:cs typeface="Cambria"/>
              </a:rPr>
              <a:t>Disha</a:t>
            </a:r>
            <a:r>
              <a:rPr sz="6500" spc="-325" dirty="0">
                <a:solidFill>
                  <a:srgbClr val="03544D"/>
                </a:solidFill>
                <a:latin typeface="Cambria"/>
                <a:cs typeface="Cambria"/>
              </a:rPr>
              <a:t> </a:t>
            </a:r>
            <a:r>
              <a:rPr sz="6500" spc="-10" dirty="0">
                <a:solidFill>
                  <a:srgbClr val="036056"/>
                </a:solidFill>
                <a:latin typeface="Cambria"/>
                <a:cs typeface="Cambria"/>
              </a:rPr>
              <a:t>Goyal</a:t>
            </a:r>
            <a:endParaRPr sz="6500" dirty="0">
              <a:latin typeface="Cambria"/>
              <a:cs typeface="Cambria"/>
            </a:endParaRPr>
          </a:p>
          <a:p>
            <a:pPr marL="51435">
              <a:lnSpc>
                <a:spcPct val="100000"/>
              </a:lnSpc>
              <a:spcBef>
                <a:spcPts val="3050"/>
              </a:spcBef>
            </a:pPr>
            <a:r>
              <a:rPr sz="6650" spc="-250" dirty="0">
                <a:solidFill>
                  <a:srgbClr val="055650"/>
                </a:solidFill>
                <a:latin typeface="Cambria"/>
                <a:cs typeface="Cambria"/>
              </a:rPr>
              <a:t>Syed</a:t>
            </a:r>
            <a:r>
              <a:rPr sz="6650" spc="-105" dirty="0">
                <a:solidFill>
                  <a:srgbClr val="055650"/>
                </a:solidFill>
                <a:latin typeface="Cambria"/>
                <a:cs typeface="Cambria"/>
              </a:rPr>
              <a:t> </a:t>
            </a:r>
            <a:r>
              <a:rPr sz="6650" spc="-155" dirty="0">
                <a:solidFill>
                  <a:srgbClr val="036459"/>
                </a:solidFill>
                <a:latin typeface="Cambria"/>
                <a:cs typeface="Cambria"/>
              </a:rPr>
              <a:t>Fatma</a:t>
            </a:r>
            <a:r>
              <a:rPr sz="6650" spc="-290" dirty="0">
                <a:solidFill>
                  <a:srgbClr val="036459"/>
                </a:solidFill>
                <a:latin typeface="Cambria"/>
                <a:cs typeface="Cambria"/>
              </a:rPr>
              <a:t> </a:t>
            </a:r>
            <a:r>
              <a:rPr sz="6650" spc="-10" dirty="0">
                <a:solidFill>
                  <a:srgbClr val="006054"/>
                </a:solidFill>
                <a:latin typeface="Cambria"/>
                <a:cs typeface="Cambria"/>
              </a:rPr>
              <a:t>Mohsin</a:t>
            </a:r>
            <a:endParaRPr sz="6650" dirty="0">
              <a:latin typeface="Cambria"/>
              <a:cs typeface="Cambria"/>
            </a:endParaRPr>
          </a:p>
          <a:p>
            <a:pPr marL="53975">
              <a:lnSpc>
                <a:spcPct val="100000"/>
              </a:lnSpc>
              <a:spcBef>
                <a:spcPts val="3220"/>
              </a:spcBef>
            </a:pPr>
            <a:r>
              <a:rPr sz="6300" spc="50" dirty="0">
                <a:solidFill>
                  <a:srgbClr val="015249"/>
                </a:solidFill>
                <a:latin typeface="Cambria"/>
                <a:cs typeface="Cambria"/>
              </a:rPr>
              <a:t>Sanhita</a:t>
            </a:r>
            <a:r>
              <a:rPr sz="6300" spc="-5" dirty="0">
                <a:solidFill>
                  <a:srgbClr val="015249"/>
                </a:solidFill>
                <a:latin typeface="Cambria"/>
                <a:cs typeface="Cambria"/>
              </a:rPr>
              <a:t> </a:t>
            </a:r>
            <a:r>
              <a:rPr sz="6300" spc="-10" dirty="0">
                <a:solidFill>
                  <a:srgbClr val="035E52"/>
                </a:solidFill>
                <a:latin typeface="Cambria"/>
                <a:cs typeface="Cambria"/>
              </a:rPr>
              <a:t>Banik</a:t>
            </a:r>
            <a:endParaRPr sz="6300" dirty="0">
              <a:latin typeface="Cambria"/>
              <a:cs typeface="Cambria"/>
            </a:endParaRPr>
          </a:p>
          <a:p>
            <a:pPr marL="34925">
              <a:lnSpc>
                <a:spcPct val="100000"/>
              </a:lnSpc>
              <a:spcBef>
                <a:spcPts val="2940"/>
              </a:spcBef>
            </a:pPr>
            <a:r>
              <a:rPr sz="6700" spc="-195" dirty="0">
                <a:solidFill>
                  <a:srgbClr val="015E54"/>
                </a:solidFill>
                <a:latin typeface="Cambria"/>
                <a:cs typeface="Cambria"/>
              </a:rPr>
              <a:t>Utsav</a:t>
            </a:r>
            <a:r>
              <a:rPr sz="6700" spc="-140" dirty="0">
                <a:solidFill>
                  <a:srgbClr val="015E54"/>
                </a:solidFill>
                <a:latin typeface="Cambria"/>
                <a:cs typeface="Cambria"/>
              </a:rPr>
              <a:t> </a:t>
            </a:r>
            <a:r>
              <a:rPr sz="6700" spc="-10" dirty="0">
                <a:solidFill>
                  <a:srgbClr val="035B52"/>
                </a:solidFill>
                <a:latin typeface="Cambria"/>
                <a:cs typeface="Cambria"/>
              </a:rPr>
              <a:t>Basnet</a:t>
            </a:r>
            <a:endParaRPr sz="6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800" y="2692400"/>
            <a:ext cx="1054100" cy="1041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0700" y="1244600"/>
            <a:ext cx="3517900" cy="1333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99800" y="1231900"/>
            <a:ext cx="4292600" cy="1066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09566" y="785283"/>
            <a:ext cx="9554210" cy="32632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915669" algn="ctr">
              <a:lnSpc>
                <a:spcPts val="12615"/>
              </a:lnSpc>
              <a:spcBef>
                <a:spcPts val="114"/>
              </a:spcBef>
              <a:tabLst>
                <a:tab pos="2937510" algn="l"/>
                <a:tab pos="5729605" algn="l"/>
              </a:tabLst>
            </a:pPr>
            <a:r>
              <a:rPr sz="11650" spc="-25" dirty="0">
                <a:solidFill>
                  <a:srgbClr val="00645B"/>
                </a:solidFill>
              </a:rPr>
              <a:t>Pre</a:t>
            </a:r>
            <a:r>
              <a:rPr sz="11650" dirty="0">
                <a:solidFill>
                  <a:srgbClr val="00645B"/>
                </a:solidFill>
              </a:rPr>
              <a:t>	</a:t>
            </a:r>
            <a:r>
              <a:rPr sz="11650" spc="-25" dirty="0">
                <a:solidFill>
                  <a:srgbClr val="015E54"/>
                </a:solidFill>
              </a:rPr>
              <a:t>are</a:t>
            </a:r>
            <a:r>
              <a:rPr sz="11650" dirty="0">
                <a:solidFill>
                  <a:srgbClr val="015E54"/>
                </a:solidFill>
              </a:rPr>
              <a:t>	</a:t>
            </a:r>
            <a:r>
              <a:rPr sz="11650" spc="80" dirty="0">
                <a:solidFill>
                  <a:srgbClr val="01645D"/>
                </a:solidFill>
              </a:rPr>
              <a:t>ness</a:t>
            </a:r>
            <a:endParaRPr sz="11650"/>
          </a:p>
          <a:p>
            <a:pPr marL="2538095" algn="ctr">
              <a:lnSpc>
                <a:spcPts val="12855"/>
              </a:lnSpc>
            </a:pPr>
            <a:r>
              <a:rPr sz="11850" spc="-80" dirty="0">
                <a:solidFill>
                  <a:srgbClr val="01645B"/>
                </a:solidFill>
              </a:rPr>
              <a:t>Be</a:t>
            </a:r>
            <a:r>
              <a:rPr sz="11850" spc="-610" dirty="0">
                <a:solidFill>
                  <a:srgbClr val="01645B"/>
                </a:solidFill>
              </a:rPr>
              <a:t> </a:t>
            </a:r>
            <a:r>
              <a:rPr sz="11850" spc="-85" dirty="0">
                <a:solidFill>
                  <a:srgbClr val="015D52"/>
                </a:solidFill>
              </a:rPr>
              <a:t>Practice</a:t>
            </a:r>
            <a:endParaRPr sz="11850"/>
          </a:p>
        </p:txBody>
      </p:sp>
      <p:sp>
        <p:nvSpPr>
          <p:cNvPr id="6" name="object 6"/>
          <p:cNvSpPr txBox="1"/>
          <p:nvPr/>
        </p:nvSpPr>
        <p:spPr>
          <a:xfrm>
            <a:off x="2041635" y="4104922"/>
            <a:ext cx="13430885" cy="4726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8260" algn="ctr">
              <a:lnSpc>
                <a:spcPct val="100000"/>
              </a:lnSpc>
              <a:spcBef>
                <a:spcPts val="125"/>
              </a:spcBef>
            </a:pPr>
            <a:r>
              <a:rPr sz="5250" dirty="0">
                <a:solidFill>
                  <a:srgbClr val="08544B"/>
                </a:solidFill>
                <a:latin typeface="Arial MT"/>
                <a:cs typeface="Arial MT"/>
              </a:rPr>
              <a:t>From</a:t>
            </a:r>
            <a:r>
              <a:rPr sz="5250" spc="-65" dirty="0">
                <a:solidFill>
                  <a:srgbClr val="08544B"/>
                </a:solidFill>
                <a:latin typeface="Arial MT"/>
                <a:cs typeface="Arial MT"/>
              </a:rPr>
              <a:t> </a:t>
            </a:r>
            <a:r>
              <a:rPr sz="5250" dirty="0">
                <a:solidFill>
                  <a:srgbClr val="056056"/>
                </a:solidFill>
                <a:latin typeface="Arial MT"/>
                <a:cs typeface="Arial MT"/>
              </a:rPr>
              <a:t>Awareness</a:t>
            </a:r>
            <a:r>
              <a:rPr sz="5250" spc="40" dirty="0">
                <a:solidFill>
                  <a:srgbClr val="056056"/>
                </a:solidFill>
                <a:latin typeface="Arial MT"/>
                <a:cs typeface="Arial MT"/>
              </a:rPr>
              <a:t> </a:t>
            </a:r>
            <a:r>
              <a:rPr sz="5250" spc="170" dirty="0">
                <a:solidFill>
                  <a:srgbClr val="0A574D"/>
                </a:solidFill>
                <a:latin typeface="Arial MT"/>
                <a:cs typeface="Arial MT"/>
              </a:rPr>
              <a:t>to</a:t>
            </a:r>
            <a:r>
              <a:rPr sz="5250" spc="-185" dirty="0">
                <a:solidFill>
                  <a:srgbClr val="0A574D"/>
                </a:solidFill>
                <a:latin typeface="Arial MT"/>
                <a:cs typeface="Arial MT"/>
              </a:rPr>
              <a:t> </a:t>
            </a:r>
            <a:r>
              <a:rPr sz="5250" spc="50" dirty="0">
                <a:solidFill>
                  <a:srgbClr val="036059"/>
                </a:solidFill>
                <a:latin typeface="Arial MT"/>
                <a:cs typeface="Arial MT"/>
              </a:rPr>
              <a:t>Action.</a:t>
            </a:r>
            <a:endParaRPr sz="5250">
              <a:latin typeface="Arial MT"/>
              <a:cs typeface="Arial MT"/>
            </a:endParaRPr>
          </a:p>
          <a:p>
            <a:pPr marL="12700" marR="5080" algn="ctr">
              <a:lnSpc>
                <a:spcPts val="5150"/>
              </a:lnSpc>
              <a:spcBef>
                <a:spcPts val="5730"/>
              </a:spcBef>
            </a:pPr>
            <a:r>
              <a:rPr sz="4500" dirty="0">
                <a:solidFill>
                  <a:srgbClr val="165D54"/>
                </a:solidFill>
                <a:latin typeface="Arial MT"/>
                <a:cs typeface="Arial MT"/>
              </a:rPr>
              <a:t>Join</a:t>
            </a:r>
            <a:r>
              <a:rPr sz="4500" spc="-20" dirty="0">
                <a:solidFill>
                  <a:srgbClr val="165D54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E5E57"/>
                </a:solidFill>
                <a:latin typeface="Arial MT"/>
                <a:cs typeface="Arial MT"/>
              </a:rPr>
              <a:t>us</a:t>
            </a:r>
            <a:r>
              <a:rPr sz="4500" spc="-135" dirty="0">
                <a:solidFill>
                  <a:srgbClr val="0E5E57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16594F"/>
                </a:solidFill>
                <a:latin typeface="Arial MT"/>
                <a:cs typeface="Arial MT"/>
              </a:rPr>
              <a:t>in</a:t>
            </a:r>
            <a:r>
              <a:rPr sz="4500" spc="-190" dirty="0">
                <a:solidFill>
                  <a:srgbClr val="16594F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F645B"/>
                </a:solidFill>
                <a:latin typeface="Arial MT"/>
                <a:cs typeface="Arial MT"/>
              </a:rPr>
              <a:t>building</a:t>
            </a:r>
            <a:r>
              <a:rPr sz="4500" spc="110" dirty="0">
                <a:solidFill>
                  <a:srgbClr val="0F645B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A544D"/>
                </a:solidFill>
                <a:latin typeface="Arial MT"/>
                <a:cs typeface="Arial MT"/>
              </a:rPr>
              <a:t>a</a:t>
            </a:r>
            <a:r>
              <a:rPr sz="4500" spc="-145" dirty="0">
                <a:solidFill>
                  <a:srgbClr val="0A544D"/>
                </a:solidFill>
                <a:latin typeface="Arial MT"/>
                <a:cs typeface="Arial MT"/>
              </a:rPr>
              <a:t> </a:t>
            </a:r>
            <a:r>
              <a:rPr sz="4500" spc="130" dirty="0">
                <a:solidFill>
                  <a:srgbClr val="F77248"/>
                </a:solidFill>
                <a:latin typeface="Arial MT"/>
                <a:cs typeface="Arial MT"/>
              </a:rPr>
              <a:t>culture</a:t>
            </a:r>
            <a:r>
              <a:rPr sz="4500" spc="15" dirty="0">
                <a:solidFill>
                  <a:srgbClr val="F77248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F645D"/>
                </a:solidFill>
                <a:latin typeface="Arial MT"/>
                <a:cs typeface="Arial MT"/>
              </a:rPr>
              <a:t>where</a:t>
            </a:r>
            <a:r>
              <a:rPr sz="4500" spc="40" dirty="0">
                <a:solidFill>
                  <a:srgbClr val="0F645D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C5D56"/>
                </a:solidFill>
                <a:latin typeface="Arial MT"/>
                <a:cs typeface="Arial MT"/>
              </a:rPr>
              <a:t>every</a:t>
            </a:r>
            <a:r>
              <a:rPr sz="4500" spc="-20" dirty="0">
                <a:solidFill>
                  <a:srgbClr val="0C5D56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1D5E56"/>
                </a:solidFill>
                <a:latin typeface="Arial MT"/>
                <a:cs typeface="Arial MT"/>
              </a:rPr>
              <a:t>individual</a:t>
            </a:r>
            <a:r>
              <a:rPr sz="4500" spc="25" dirty="0">
                <a:solidFill>
                  <a:srgbClr val="1D5E56"/>
                </a:solidFill>
                <a:latin typeface="Arial MT"/>
                <a:cs typeface="Arial MT"/>
              </a:rPr>
              <a:t> </a:t>
            </a:r>
            <a:r>
              <a:rPr sz="4500" spc="-25" dirty="0">
                <a:solidFill>
                  <a:srgbClr val="0C4F49"/>
                </a:solidFill>
                <a:latin typeface="Arial MT"/>
                <a:cs typeface="Arial MT"/>
              </a:rPr>
              <a:t>is </a:t>
            </a:r>
            <a:r>
              <a:rPr sz="4500" spc="60" dirty="0">
                <a:solidFill>
                  <a:srgbClr val="F97044"/>
                </a:solidFill>
                <a:latin typeface="Arial MT"/>
                <a:cs typeface="Arial MT"/>
              </a:rPr>
              <a:t>prepared</a:t>
            </a:r>
            <a:r>
              <a:rPr sz="4500" spc="-40" dirty="0">
                <a:solidFill>
                  <a:srgbClr val="F97044"/>
                </a:solidFill>
                <a:latin typeface="Arial MT"/>
                <a:cs typeface="Arial MT"/>
              </a:rPr>
              <a:t> </a:t>
            </a:r>
            <a:r>
              <a:rPr sz="4500" spc="75" dirty="0">
                <a:solidFill>
                  <a:srgbClr val="F66E3F"/>
                </a:solidFill>
                <a:latin typeface="Arial MT"/>
                <a:cs typeface="Arial MT"/>
              </a:rPr>
              <a:t>today,</a:t>
            </a:r>
            <a:r>
              <a:rPr sz="4500" spc="-80" dirty="0">
                <a:solidFill>
                  <a:srgbClr val="F66E3F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F5652"/>
                </a:solidFill>
                <a:latin typeface="Arial MT"/>
                <a:cs typeface="Arial MT"/>
              </a:rPr>
              <a:t>so</a:t>
            </a:r>
            <a:r>
              <a:rPr sz="4500" spc="-110" dirty="0">
                <a:solidFill>
                  <a:srgbClr val="0F5652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156059"/>
                </a:solidFill>
                <a:latin typeface="Arial MT"/>
                <a:cs typeface="Arial MT"/>
              </a:rPr>
              <a:t>they</a:t>
            </a:r>
            <a:r>
              <a:rPr sz="4500" spc="20" dirty="0">
                <a:solidFill>
                  <a:srgbClr val="156059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C4D49"/>
                </a:solidFill>
                <a:latin typeface="Arial MT"/>
                <a:cs typeface="Arial MT"/>
              </a:rPr>
              <a:t>can</a:t>
            </a:r>
            <a:r>
              <a:rPr sz="4500" spc="-100" dirty="0">
                <a:solidFill>
                  <a:srgbClr val="0C4D49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F5652"/>
                </a:solidFill>
                <a:latin typeface="Arial MT"/>
                <a:cs typeface="Arial MT"/>
              </a:rPr>
              <a:t>be</a:t>
            </a:r>
            <a:r>
              <a:rPr sz="4500" spc="-125" dirty="0">
                <a:solidFill>
                  <a:srgbClr val="0F5652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E86E48"/>
                </a:solidFill>
                <a:latin typeface="Arial MT"/>
                <a:cs typeface="Arial MT"/>
              </a:rPr>
              <a:t>protected</a:t>
            </a:r>
            <a:r>
              <a:rPr sz="4500" spc="180" dirty="0">
                <a:solidFill>
                  <a:srgbClr val="E86E48"/>
                </a:solidFill>
                <a:latin typeface="Arial MT"/>
                <a:cs typeface="Arial MT"/>
              </a:rPr>
              <a:t> </a:t>
            </a:r>
            <a:r>
              <a:rPr sz="4500" spc="-10" dirty="0">
                <a:solidFill>
                  <a:srgbClr val="F6693D"/>
                </a:solidFill>
                <a:latin typeface="Arial MT"/>
                <a:cs typeface="Arial MT"/>
              </a:rPr>
              <a:t>tomorrow.</a:t>
            </a:r>
            <a:endParaRPr sz="4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45"/>
              </a:spcBef>
            </a:pPr>
            <a:endParaRPr sz="4500">
              <a:latin typeface="Arial MT"/>
              <a:cs typeface="Arial MT"/>
            </a:endParaRPr>
          </a:p>
          <a:p>
            <a:pPr marR="52705" algn="ctr">
              <a:lnSpc>
                <a:spcPct val="100000"/>
              </a:lnSpc>
            </a:pPr>
            <a:r>
              <a:rPr sz="5200" spc="890" dirty="0">
                <a:solidFill>
                  <a:srgbClr val="0C2841"/>
                </a:solidFill>
                <a:latin typeface="Calibri"/>
                <a:cs typeface="Calibri"/>
              </a:rPr>
              <a:t>SANRAKSHAN</a:t>
            </a:r>
            <a:endParaRPr sz="5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662</Words>
  <Application>Microsoft Office PowerPoint</Application>
  <PresentationFormat>Custom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MT</vt:lpstr>
      <vt:lpstr>Calibri</vt:lpstr>
      <vt:lpstr>Cambria</vt:lpstr>
      <vt:lpstr>Office Theme</vt:lpstr>
      <vt:lpstr>PowerPoint Presentation</vt:lpstr>
      <vt:lpstr>Rooted in the Cultural Value of Collective Responsibility</vt:lpstr>
      <vt:lpstr>The Gap Between Disaster and Safety is Panic</vt:lpstr>
      <vt:lpstr>A Unified Platform for Preparedness and Response</vt:lpstr>
      <vt:lpstr>Navigating the Chaos: Emergency Exit Navigation System</vt:lpstr>
      <vt:lpstr>Proactive Education: Learning from the Past</vt:lpstr>
      <vt:lpstr>Gamified Engagement: Building Survival Muscle Memory</vt:lpstr>
      <vt:lpstr>Real-Time Lifeline Connectivity</vt:lpstr>
      <vt:lpstr>Technological Resilience and Evolution</vt:lpstr>
      <vt:lpstr>Operational Status: From Concept to Model</vt:lpstr>
      <vt:lpstr>Expanding the Safety Ecosystem</vt:lpstr>
      <vt:lpstr>Bridging the Gap Between Panic and Safety</vt:lpstr>
      <vt:lpstr>The Team Behind the Protection</vt:lpstr>
      <vt:lpstr>Pre are ness Be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SANHITA BANIK</dc:creator>
  <cp:lastModifiedBy>SANHITA BANIK</cp:lastModifiedBy>
  <cp:revision>1</cp:revision>
  <dcterms:created xsi:type="dcterms:W3CDTF">2026-02-12T05:17:38Z</dcterms:created>
  <dcterms:modified xsi:type="dcterms:W3CDTF">2026-02-12T05:29:48Z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LastSaved">
    <vt:filetime>2026-02-12T00:00:00Z</vt:filetime>
  </property>
</Properties>
</file>